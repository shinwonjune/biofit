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550" b="1">
                <a:solidFill>
                  <a:srgbClr val="0F172A"/>
                </a:solidFill>
                <a:latin typeface="Malgun Gothic"/>
                <a:ea typeface="Malgun Gothic"/>
              </a:rPr>
              <a:t>BioFit 현행 MSA 구조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>
                <a:solidFill>
                  <a:srgbClr val="475569"/>
                </a:solidFill>
                <a:latin typeface="Malgun Gothic"/>
                <a:ea typeface="Malgun Gothic"/>
              </a:rPr>
              <a:t>Docker Compose로 분리된 UI, API, AI 분석, DB 서비스와 외부 Fitbit/LLM 연동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502920" y="960120"/>
            <a:ext cx="1920240" cy="256032"/>
          </a:xfrm>
          <a:prstGeom prst="roundRect">
            <a:avLst/>
          </a:prstGeom>
          <a:solidFill>
            <a:srgbClr val="0284C7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Client Layer</a:t>
            </a:r>
          </a:p>
        </p:txBody>
      </p:sp>
      <p:sp>
        <p:nvSpPr>
          <p:cNvPr id="15" name="Box 15"/>
          <p:cNvSpPr/>
          <p:nvPr/>
        </p:nvSpPr>
        <p:spPr>
          <a:xfrm>
            <a:off x="2697480" y="960120"/>
            <a:ext cx="2148840" cy="256032"/>
          </a:xfrm>
          <a:prstGeom prst="roundRect">
            <a:avLst/>
          </a:prstGeom>
          <a:solidFill>
            <a:srgbClr val="16A34A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UI Layer</a:t>
            </a:r>
          </a:p>
        </p:txBody>
      </p:sp>
      <p:sp>
        <p:nvSpPr>
          <p:cNvPr id="16" name="Box 16"/>
          <p:cNvSpPr/>
          <p:nvPr/>
        </p:nvSpPr>
        <p:spPr>
          <a:xfrm>
            <a:off x="5074920" y="960120"/>
            <a:ext cx="2743200" cy="256032"/>
          </a:xfrm>
          <a:prstGeom prst="roundRect">
            <a:avLst/>
          </a:prstGeom>
          <a:solidFill>
            <a:srgbClr val="D97706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API / Domain Services</a:t>
            </a:r>
          </a:p>
        </p:txBody>
      </p:sp>
      <p:sp>
        <p:nvSpPr>
          <p:cNvPr id="17" name="Box 17"/>
          <p:cNvSpPr/>
          <p:nvPr/>
        </p:nvSpPr>
        <p:spPr>
          <a:xfrm>
            <a:off x="8138160" y="960120"/>
            <a:ext cx="1737360" cy="256032"/>
          </a:xfrm>
          <a:prstGeom prst="roundRect">
            <a:avLst/>
          </a:prstGeom>
          <a:solidFill>
            <a:srgbClr val="2563EB"/>
          </a:solidFill>
          <a:ln w="17145">
            <a:solidFill>
              <a:srgbClr val="2563EB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Persistence</a:t>
            </a:r>
          </a:p>
        </p:txBody>
      </p:sp>
      <p:sp>
        <p:nvSpPr>
          <p:cNvPr id="18" name="Box 18"/>
          <p:cNvSpPr/>
          <p:nvPr/>
        </p:nvSpPr>
        <p:spPr>
          <a:xfrm>
            <a:off x="10058400" y="960120"/>
            <a:ext cx="1325880" cy="256032"/>
          </a:xfrm>
          <a:prstGeom prst="roundRect">
            <a:avLst/>
          </a:prstGeom>
          <a:solidFill>
            <a:srgbClr val="64748B"/>
          </a:solidFill>
          <a:ln w="17145">
            <a:solidFill>
              <a:srgbClr val="64748B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External</a:t>
            </a:r>
          </a:p>
        </p:txBody>
      </p:sp>
      <p:sp>
        <p:nvSpPr>
          <p:cNvPr id="19" name="Box 19"/>
          <p:cNvSpPr/>
          <p:nvPr/>
        </p:nvSpPr>
        <p:spPr>
          <a:xfrm>
            <a:off x="594360" y="2377440"/>
            <a:ext cx="1508760" cy="868680"/>
          </a:xfrm>
          <a:prstGeom prst="roundRect">
            <a:avLst/>
          </a:prstGeom>
          <a:solidFill>
            <a:srgbClr val="E0F2FE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Trainer / User</a:t>
            </a:r>
          </a:p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Browser</a:t>
            </a:r>
          </a:p>
        </p:txBody>
      </p:sp>
      <p:sp>
        <p:nvSpPr>
          <p:cNvPr id="20" name="Box 20"/>
          <p:cNvSpPr/>
          <p:nvPr/>
        </p:nvSpPr>
        <p:spPr>
          <a:xfrm>
            <a:off x="2788920" y="1600200"/>
            <a:ext cx="1828800" cy="731520"/>
          </a:xfrm>
          <a:prstGeom prst="roundRect">
            <a:avLst/>
          </a:prstGeom>
          <a:solidFill>
            <a:srgbClr val="DCFCE7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Streamlit Main</a:t>
            </a:r>
          </a:p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:8501</a:t>
            </a:r>
          </a:p>
        </p:txBody>
      </p:sp>
      <p:sp>
        <p:nvSpPr>
          <p:cNvPr id="21" name="Box 21"/>
          <p:cNvSpPr/>
          <p:nvPr/>
        </p:nvSpPr>
        <p:spPr>
          <a:xfrm>
            <a:off x="2788920" y="3154680"/>
            <a:ext cx="1828800" cy="731520"/>
          </a:xfrm>
          <a:prstGeom prst="roundRect">
            <a:avLst/>
          </a:prstGeom>
          <a:solidFill>
            <a:srgbClr val="DCFCE7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Feedback UI</a:t>
            </a:r>
          </a:p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:8502</a:t>
            </a:r>
          </a:p>
        </p:txBody>
      </p:sp>
      <p:sp>
        <p:nvSpPr>
          <p:cNvPr id="22" name="Box 22"/>
          <p:cNvSpPr/>
          <p:nvPr/>
        </p:nvSpPr>
        <p:spPr>
          <a:xfrm>
            <a:off x="5257800" y="1325880"/>
            <a:ext cx="2148840" cy="594360"/>
          </a:xfrm>
          <a:prstGeom prst="roundRect">
            <a:avLst/>
          </a:prstGeom>
          <a:solidFill>
            <a:srgbClr val="FEF3C7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Data Service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/fetch :8000</a:t>
            </a:r>
          </a:p>
        </p:txBody>
      </p:sp>
      <p:sp>
        <p:nvSpPr>
          <p:cNvPr id="23" name="Box 23"/>
          <p:cNvSpPr/>
          <p:nvPr/>
        </p:nvSpPr>
        <p:spPr>
          <a:xfrm>
            <a:off x="5257800" y="2148840"/>
            <a:ext cx="2148840" cy="594360"/>
          </a:xfrm>
          <a:prstGeom prst="roundRect">
            <a:avLst/>
          </a:prstGeom>
          <a:solidFill>
            <a:srgbClr val="FCE7F3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AI Service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/predict :8002</a:t>
            </a:r>
          </a:p>
        </p:txBody>
      </p:sp>
      <p:sp>
        <p:nvSpPr>
          <p:cNvPr id="24" name="Box 24"/>
          <p:cNvSpPr/>
          <p:nvPr/>
        </p:nvSpPr>
        <p:spPr>
          <a:xfrm>
            <a:off x="5257800" y="2971800"/>
            <a:ext cx="2148840" cy="594360"/>
          </a:xfrm>
          <a:prstGeom prst="roundRect">
            <a:avLst/>
          </a:prstGeom>
          <a:solidFill>
            <a:srgbClr val="FEF3C7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Feedback API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/feedback :8001</a:t>
            </a:r>
          </a:p>
        </p:txBody>
      </p:sp>
      <p:sp>
        <p:nvSpPr>
          <p:cNvPr id="25" name="Box 25"/>
          <p:cNvSpPr/>
          <p:nvPr/>
        </p:nvSpPr>
        <p:spPr>
          <a:xfrm>
            <a:off x="5257800" y="3794760"/>
            <a:ext cx="2148840" cy="594360"/>
          </a:xfrm>
          <a:prstGeom prst="roundRect">
            <a:avLst/>
          </a:prstGeom>
          <a:solidFill>
            <a:srgbClr val="FEF3C7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Group Service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/predict :8003</a:t>
            </a:r>
          </a:p>
        </p:txBody>
      </p:sp>
      <p:sp>
        <p:nvSpPr>
          <p:cNvPr id="26" name="Box 26"/>
          <p:cNvSpPr/>
          <p:nvPr/>
        </p:nvSpPr>
        <p:spPr>
          <a:xfrm>
            <a:off x="8229600" y="2240280"/>
            <a:ext cx="1417320" cy="1051560"/>
          </a:xfrm>
          <a:prstGeom prst="roundRect">
            <a:avLst/>
          </a:prstGeom>
          <a:solidFill>
            <a:srgbClr val="DBEAFE"/>
          </a:solidFill>
          <a:ln w="17145">
            <a:solidFill>
              <a:srgbClr val="2563EB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PostgreSQL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:5432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Tables + Logs</a:t>
            </a:r>
          </a:p>
        </p:txBody>
      </p:sp>
      <p:sp>
        <p:nvSpPr>
          <p:cNvPr id="27" name="Box 27"/>
          <p:cNvSpPr/>
          <p:nvPr/>
        </p:nvSpPr>
        <p:spPr>
          <a:xfrm>
            <a:off x="10058400" y="1417320"/>
            <a:ext cx="132588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4748B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Fitbit API</a:t>
            </a:r>
          </a:p>
        </p:txBody>
      </p:sp>
      <p:sp>
        <p:nvSpPr>
          <p:cNvPr id="28" name="Box 28"/>
          <p:cNvSpPr/>
          <p:nvPr/>
        </p:nvSpPr>
        <p:spPr>
          <a:xfrm>
            <a:off x="10058400" y="2331720"/>
            <a:ext cx="1325880" cy="7315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4748B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vLLM / LLM</a:t>
            </a:r>
          </a:p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OpenAI compatible</a:t>
            </a:r>
          </a:p>
        </p:txBody>
      </p:sp>
      <p:sp>
        <p:nvSpPr>
          <p:cNvPr id="29" name="Box 29"/>
          <p:cNvSpPr/>
          <p:nvPr/>
        </p:nvSpPr>
        <p:spPr>
          <a:xfrm>
            <a:off x="10058400" y="3657600"/>
            <a:ext cx="1325880" cy="64008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64748B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Image URLs</a:t>
            </a:r>
          </a:p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(optional UI assets)</a:t>
            </a:r>
          </a:p>
        </p:txBody>
      </p:sp>
      <p:cxnSp>
        <p:nvCxnSpPr>
          <p:cNvPr id="30" name="Line 30"/>
          <p:cNvCxnSpPr/>
          <p:nvPr/>
        </p:nvCxnSpPr>
        <p:spPr>
          <a:xfrm flipV="1">
            <a:off x="2103120" y="1965960"/>
            <a:ext cx="685800" cy="822959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1" name="Line 31"/>
          <p:cNvCxnSpPr/>
          <p:nvPr/>
        </p:nvCxnSpPr>
        <p:spPr>
          <a:xfrm>
            <a:off x="2103120" y="2788920"/>
            <a:ext cx="685800" cy="731520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2" name="Line 32"/>
          <p:cNvCxnSpPr/>
          <p:nvPr/>
        </p:nvCxnSpPr>
        <p:spPr>
          <a:xfrm flipV="1">
            <a:off x="4617720" y="1627632"/>
            <a:ext cx="640080" cy="338327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3" name="Line 33"/>
          <p:cNvCxnSpPr/>
          <p:nvPr/>
        </p:nvCxnSpPr>
        <p:spPr>
          <a:xfrm>
            <a:off x="4617720" y="1965960"/>
            <a:ext cx="640080" cy="484632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4" name="Line 34"/>
          <p:cNvCxnSpPr/>
          <p:nvPr/>
        </p:nvCxnSpPr>
        <p:spPr>
          <a:xfrm flipV="1">
            <a:off x="4617720" y="3273552"/>
            <a:ext cx="640080" cy="246888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5" name="Line 35"/>
          <p:cNvCxnSpPr/>
          <p:nvPr/>
        </p:nvCxnSpPr>
        <p:spPr>
          <a:xfrm>
            <a:off x="4617720" y="1965960"/>
            <a:ext cx="640080" cy="2130552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6" name="Line 36"/>
          <p:cNvCxnSpPr/>
          <p:nvPr/>
        </p:nvCxnSpPr>
        <p:spPr>
          <a:xfrm>
            <a:off x="7406640" y="1627632"/>
            <a:ext cx="822960" cy="1133856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7" name="Line 37"/>
          <p:cNvCxnSpPr/>
          <p:nvPr/>
        </p:nvCxnSpPr>
        <p:spPr>
          <a:xfrm>
            <a:off x="7406640" y="2450592"/>
            <a:ext cx="822960" cy="310895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8" name="Line 38"/>
          <p:cNvCxnSpPr/>
          <p:nvPr/>
        </p:nvCxnSpPr>
        <p:spPr>
          <a:xfrm flipV="1">
            <a:off x="7406640" y="2761488"/>
            <a:ext cx="822960" cy="512064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39" name="Line 39"/>
          <p:cNvCxnSpPr/>
          <p:nvPr/>
        </p:nvCxnSpPr>
        <p:spPr>
          <a:xfrm flipV="1">
            <a:off x="7406640" y="2761488"/>
            <a:ext cx="822960" cy="1335024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40" name="Line 40"/>
          <p:cNvCxnSpPr/>
          <p:nvPr/>
        </p:nvCxnSpPr>
        <p:spPr>
          <a:xfrm flipH="1" flipV="1">
            <a:off x="7406640" y="1627632"/>
            <a:ext cx="2651760" cy="91439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41" name="Line 41"/>
          <p:cNvCxnSpPr/>
          <p:nvPr/>
        </p:nvCxnSpPr>
        <p:spPr>
          <a:xfrm>
            <a:off x="7406640" y="2450592"/>
            <a:ext cx="2651760" cy="246888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42" name="Line 42"/>
          <p:cNvCxnSpPr/>
          <p:nvPr/>
        </p:nvCxnSpPr>
        <p:spPr>
          <a:xfrm>
            <a:off x="9646920" y="2761488"/>
            <a:ext cx="411479" cy="1216151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sp>
        <p:nvSpPr>
          <p:cNvPr id="43" name="Text 43"/>
          <p:cNvSpPr txBox="1"/>
          <p:nvPr/>
        </p:nvSpPr>
        <p:spPr>
          <a:xfrm>
            <a:off x="594360" y="4983480"/>
            <a:ext cx="106984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350" b="1">
                <a:solidFill>
                  <a:srgbClr val="334155"/>
                </a:solidFill>
                <a:latin typeface="Malgun Gothic"/>
                <a:ea typeface="Malgun Gothic"/>
              </a:rPr>
              <a:t>핵심 해석: UI와 도메인 API를 분리하고, AI 분석은 별도 서비스에서 CatBoost/SHAP/LLM 파이프라인으로 처리한다.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550" b="1">
                <a:solidFill>
                  <a:srgbClr val="0F172A"/>
                </a:solidFill>
                <a:latin typeface="Malgun Gothic"/>
                <a:ea typeface="Malgun Gothic"/>
              </a:rPr>
              <a:t>주요 요청 흐름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>
                <a:solidFill>
                  <a:srgbClr val="475569"/>
                </a:solidFill>
                <a:latin typeface="Malgun Gothic"/>
                <a:ea typeface="Malgun Gothic"/>
              </a:rPr>
              <a:t>데이터 수집, AI 코칭 생성, 피드백 저장, 파트너 추천이 서로 다른 API 경로로 분리됨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502920" y="1143000"/>
            <a:ext cx="1417320" cy="594360"/>
          </a:xfrm>
          <a:prstGeom prst="roundRect">
            <a:avLst/>
          </a:prstGeom>
          <a:solidFill>
            <a:srgbClr val="0284C7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A. 데이터 수집</a:t>
            </a:r>
          </a:p>
        </p:txBody>
      </p:sp>
      <p:sp>
        <p:nvSpPr>
          <p:cNvPr id="15" name="Box 15"/>
          <p:cNvSpPr/>
          <p:nvPr/>
        </p:nvSpPr>
        <p:spPr>
          <a:xfrm>
            <a:off x="2240280" y="114300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Streamlit 입력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3840480" y="1444752"/>
            <a:ext cx="457200" cy="9144"/>
          </a:xfrm>
          <a:prstGeom prst="line">
            <a:avLst/>
          </a:prstGeom>
          <a:ln w="19050">
            <a:solidFill>
              <a:srgbClr val="0284C7"/>
            </a:solidFill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4297680" y="114300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Data /fetch</a:t>
            </a:r>
          </a:p>
        </p:txBody>
      </p:sp>
      <p:cxnSp>
        <p:nvCxnSpPr>
          <p:cNvPr id="18" name="Line 18"/>
          <p:cNvCxnSpPr/>
          <p:nvPr/>
        </p:nvCxnSpPr>
        <p:spPr>
          <a:xfrm>
            <a:off x="5897880" y="1444752"/>
            <a:ext cx="457200" cy="9144"/>
          </a:xfrm>
          <a:prstGeom prst="line">
            <a:avLst/>
          </a:prstGeom>
          <a:ln w="19050">
            <a:solidFill>
              <a:srgbClr val="0284C7"/>
            </a:solidFill>
            <a:tailEnd type="triangle" w="med" len="med"/>
          </a:ln>
        </p:spPr>
      </p:cxnSp>
      <p:sp>
        <p:nvSpPr>
          <p:cNvPr id="19" name="Box 19"/>
          <p:cNvSpPr/>
          <p:nvPr/>
        </p:nvSpPr>
        <p:spPr>
          <a:xfrm>
            <a:off x="6355080" y="114300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CSV 적재</a:t>
            </a:r>
          </a:p>
        </p:txBody>
      </p:sp>
      <p:cxnSp>
        <p:nvCxnSpPr>
          <p:cNvPr id="20" name="Line 20"/>
          <p:cNvCxnSpPr/>
          <p:nvPr/>
        </p:nvCxnSpPr>
        <p:spPr>
          <a:xfrm>
            <a:off x="7955279" y="1444752"/>
            <a:ext cx="457200" cy="9144"/>
          </a:xfrm>
          <a:prstGeom prst="line">
            <a:avLst/>
          </a:prstGeom>
          <a:ln w="19050">
            <a:solidFill>
              <a:srgbClr val="0284C7"/>
            </a:solidFill>
            <a:tailEnd type="triangle" w="med" len="med"/>
          </a:ln>
        </p:spPr>
      </p:cxnSp>
      <p:sp>
        <p:nvSpPr>
          <p:cNvPr id="21" name="Box 21"/>
          <p:cNvSpPr/>
          <p:nvPr/>
        </p:nvSpPr>
        <p:spPr>
          <a:xfrm>
            <a:off x="8412480" y="114300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PostgreSQL 저장</a:t>
            </a:r>
          </a:p>
        </p:txBody>
      </p:sp>
      <p:sp>
        <p:nvSpPr>
          <p:cNvPr id="22" name="Box 22"/>
          <p:cNvSpPr/>
          <p:nvPr/>
        </p:nvSpPr>
        <p:spPr>
          <a:xfrm>
            <a:off x="502920" y="2194560"/>
            <a:ext cx="1417320" cy="594360"/>
          </a:xfrm>
          <a:prstGeom prst="roundRect">
            <a:avLst/>
          </a:prstGeom>
          <a:solidFill>
            <a:srgbClr val="DB2777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B. AI 코칭</a:t>
            </a:r>
          </a:p>
        </p:txBody>
      </p:sp>
      <p:sp>
        <p:nvSpPr>
          <p:cNvPr id="23" name="Box 23"/>
          <p:cNvSpPr/>
          <p:nvPr/>
        </p:nvSpPr>
        <p:spPr>
          <a:xfrm>
            <a:off x="2240280" y="219456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AI /predict</a:t>
            </a:r>
          </a:p>
        </p:txBody>
      </p:sp>
      <p:cxnSp>
        <p:nvCxnSpPr>
          <p:cNvPr id="24" name="Line 24"/>
          <p:cNvCxnSpPr/>
          <p:nvPr/>
        </p:nvCxnSpPr>
        <p:spPr>
          <a:xfrm>
            <a:off x="3840480" y="2496312"/>
            <a:ext cx="457200" cy="9144"/>
          </a:xfrm>
          <a:prstGeom prst="line">
            <a:avLst/>
          </a:prstGeom>
          <a:ln w="19050">
            <a:solidFill>
              <a:srgbClr val="DB2777"/>
            </a:solidFill>
            <a:tailEnd type="triangle" w="med" len="med"/>
          </a:ln>
        </p:spPr>
      </p:cxnSp>
      <p:sp>
        <p:nvSpPr>
          <p:cNvPr id="25" name="Box 25"/>
          <p:cNvSpPr/>
          <p:nvPr/>
        </p:nvSpPr>
        <p:spPr>
          <a:xfrm>
            <a:off x="4297680" y="219456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master DF 생성</a:t>
            </a:r>
          </a:p>
        </p:txBody>
      </p:sp>
      <p:cxnSp>
        <p:nvCxnSpPr>
          <p:cNvPr id="26" name="Line 26"/>
          <p:cNvCxnSpPr/>
          <p:nvPr/>
        </p:nvCxnSpPr>
        <p:spPr>
          <a:xfrm>
            <a:off x="5897880" y="2496312"/>
            <a:ext cx="457200" cy="9144"/>
          </a:xfrm>
          <a:prstGeom prst="line">
            <a:avLst/>
          </a:prstGeom>
          <a:ln w="19050">
            <a:solidFill>
              <a:srgbClr val="DB2777"/>
            </a:solidFill>
            <a:tailEnd type="triangle" w="med" len="med"/>
          </a:ln>
        </p:spPr>
      </p:cxnSp>
      <p:sp>
        <p:nvSpPr>
          <p:cNvPr id="27" name="Box 27"/>
          <p:cNvSpPr/>
          <p:nvPr/>
        </p:nvSpPr>
        <p:spPr>
          <a:xfrm>
            <a:off x="6355080" y="219456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CatBoost + SHAP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7955279" y="2496312"/>
            <a:ext cx="457200" cy="9144"/>
          </a:xfrm>
          <a:prstGeom prst="line">
            <a:avLst/>
          </a:prstGeom>
          <a:ln w="19050">
            <a:solidFill>
              <a:srgbClr val="DB2777"/>
            </a:solidFill>
            <a:tailEnd type="triangle" w="med" len="med"/>
          </a:ln>
        </p:spPr>
      </p:cxnSp>
      <p:sp>
        <p:nvSpPr>
          <p:cNvPr id="29" name="Box 29"/>
          <p:cNvSpPr/>
          <p:nvPr/>
        </p:nvSpPr>
        <p:spPr>
          <a:xfrm>
            <a:off x="8412480" y="219456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LLM 메시지 저장</a:t>
            </a:r>
          </a:p>
        </p:txBody>
      </p:sp>
      <p:sp>
        <p:nvSpPr>
          <p:cNvPr id="30" name="Box 30"/>
          <p:cNvSpPr/>
          <p:nvPr/>
        </p:nvSpPr>
        <p:spPr>
          <a:xfrm>
            <a:off x="502920" y="3246120"/>
            <a:ext cx="1417320" cy="594360"/>
          </a:xfrm>
          <a:prstGeom prst="roundRect">
            <a:avLst/>
          </a:prstGeom>
          <a:solidFill>
            <a:srgbClr val="16A34A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C. 피드백</a:t>
            </a:r>
          </a:p>
        </p:txBody>
      </p:sp>
      <p:sp>
        <p:nvSpPr>
          <p:cNvPr id="31" name="Box 31"/>
          <p:cNvSpPr/>
          <p:nvPr/>
        </p:nvSpPr>
        <p:spPr>
          <a:xfrm>
            <a:off x="2240280" y="324612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Feedback UI</a:t>
            </a:r>
          </a:p>
        </p:txBody>
      </p:sp>
      <p:cxnSp>
        <p:nvCxnSpPr>
          <p:cNvPr id="32" name="Line 32"/>
          <p:cNvCxnSpPr/>
          <p:nvPr/>
        </p:nvCxnSpPr>
        <p:spPr>
          <a:xfrm>
            <a:off x="3840480" y="3547872"/>
            <a:ext cx="457200" cy="9144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</p:cxnSp>
      <p:sp>
        <p:nvSpPr>
          <p:cNvPr id="33" name="Box 33"/>
          <p:cNvSpPr/>
          <p:nvPr/>
        </p:nvSpPr>
        <p:spPr>
          <a:xfrm>
            <a:off x="4297680" y="324612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Feedback /feedback</a:t>
            </a:r>
          </a:p>
        </p:txBody>
      </p:sp>
      <p:cxnSp>
        <p:nvCxnSpPr>
          <p:cNvPr id="34" name="Line 34"/>
          <p:cNvCxnSpPr/>
          <p:nvPr/>
        </p:nvCxnSpPr>
        <p:spPr>
          <a:xfrm>
            <a:off x="5897880" y="3547872"/>
            <a:ext cx="457200" cy="9144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</p:cxnSp>
      <p:sp>
        <p:nvSpPr>
          <p:cNvPr id="35" name="Box 35"/>
          <p:cNvSpPr/>
          <p:nvPr/>
        </p:nvSpPr>
        <p:spPr>
          <a:xfrm>
            <a:off x="6355080" y="324612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{uid}_feedback</a:t>
            </a:r>
          </a:p>
        </p:txBody>
      </p:sp>
      <p:cxnSp>
        <p:nvCxnSpPr>
          <p:cNvPr id="36" name="Line 36"/>
          <p:cNvCxnSpPr/>
          <p:nvPr/>
        </p:nvCxnSpPr>
        <p:spPr>
          <a:xfrm>
            <a:off x="7955279" y="3547872"/>
            <a:ext cx="457200" cy="9144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</p:cxnSp>
      <p:sp>
        <p:nvSpPr>
          <p:cNvPr id="37" name="Box 37"/>
          <p:cNvSpPr/>
          <p:nvPr/>
        </p:nvSpPr>
        <p:spPr>
          <a:xfrm>
            <a:off x="8412480" y="3246120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다음 예측에 반영</a:t>
            </a:r>
          </a:p>
        </p:txBody>
      </p:sp>
      <p:sp>
        <p:nvSpPr>
          <p:cNvPr id="38" name="Box 38"/>
          <p:cNvSpPr/>
          <p:nvPr/>
        </p:nvSpPr>
        <p:spPr>
          <a:xfrm>
            <a:off x="502920" y="4297679"/>
            <a:ext cx="1417320" cy="594360"/>
          </a:xfrm>
          <a:prstGeom prst="roundRect">
            <a:avLst/>
          </a:prstGeom>
          <a:solidFill>
            <a:srgbClr val="D97706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D. 그룹 추천</a:t>
            </a:r>
          </a:p>
        </p:txBody>
      </p:sp>
      <p:sp>
        <p:nvSpPr>
          <p:cNvPr id="39" name="Box 39"/>
          <p:cNvSpPr/>
          <p:nvPr/>
        </p:nvSpPr>
        <p:spPr>
          <a:xfrm>
            <a:off x="2240280" y="4297679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Group /predict</a:t>
            </a:r>
          </a:p>
        </p:txBody>
      </p:sp>
      <p:cxnSp>
        <p:nvCxnSpPr>
          <p:cNvPr id="40" name="Line 40"/>
          <p:cNvCxnSpPr/>
          <p:nvPr/>
        </p:nvCxnSpPr>
        <p:spPr>
          <a:xfrm>
            <a:off x="3840480" y="4599431"/>
            <a:ext cx="457200" cy="9144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</p:cxnSp>
      <p:sp>
        <p:nvSpPr>
          <p:cNvPr id="41" name="Box 41"/>
          <p:cNvSpPr/>
          <p:nvPr/>
        </p:nvSpPr>
        <p:spPr>
          <a:xfrm>
            <a:off x="4297680" y="4297679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preferred_slots 조회</a:t>
            </a:r>
          </a:p>
        </p:txBody>
      </p:sp>
      <p:cxnSp>
        <p:nvCxnSpPr>
          <p:cNvPr id="42" name="Line 42"/>
          <p:cNvCxnSpPr/>
          <p:nvPr/>
        </p:nvCxnSpPr>
        <p:spPr>
          <a:xfrm>
            <a:off x="5897880" y="4599431"/>
            <a:ext cx="457200" cy="9144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</p:cxnSp>
      <p:sp>
        <p:nvSpPr>
          <p:cNvPr id="43" name="Box 43"/>
          <p:cNvSpPr/>
          <p:nvPr/>
        </p:nvSpPr>
        <p:spPr>
          <a:xfrm>
            <a:off x="6355080" y="4297679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30분 이상 겹침</a:t>
            </a:r>
          </a:p>
        </p:txBody>
      </p:sp>
      <p:cxnSp>
        <p:nvCxnSpPr>
          <p:cNvPr id="44" name="Line 44"/>
          <p:cNvCxnSpPr/>
          <p:nvPr/>
        </p:nvCxnSpPr>
        <p:spPr>
          <a:xfrm>
            <a:off x="7955279" y="4599431"/>
            <a:ext cx="457200" cy="9144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</p:cxnSp>
      <p:sp>
        <p:nvSpPr>
          <p:cNvPr id="45" name="Box 45"/>
          <p:cNvSpPr/>
          <p:nvPr/>
        </p:nvSpPr>
        <p:spPr>
          <a:xfrm>
            <a:off x="8412480" y="4297679"/>
            <a:ext cx="1600200" cy="59436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partner/group 표시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594360" y="544068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250" b="1">
                <a:solidFill>
                  <a:srgbClr val="334155"/>
                </a:solidFill>
                <a:latin typeface="Malgun Gothic"/>
                <a:ea typeface="Malgun Gothic"/>
              </a:rPr>
              <a:t>발표 포인트: 각 흐름은 같은 DB를 공유하지만 API 책임은 분리되어 있어 서비스별 개선과 교체가 쉽다.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550" b="1">
                <a:solidFill>
                  <a:srgbClr val="0F172A"/>
                </a:solidFill>
                <a:latin typeface="Malgun Gothic"/>
                <a:ea typeface="Malgun Gothic"/>
              </a:rPr>
              <a:t>서비스별 책임과 실제 구현 파일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>
                <a:solidFill>
                  <a:srgbClr val="475569"/>
                </a:solidFill>
                <a:latin typeface="Malgun Gothic"/>
                <a:ea typeface="Malgun Gothic"/>
              </a:rPr>
              <a:t>발표 시 “무엇을 어디서 처리하는지”를 설명하기 위한 책임 분해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502920" y="1051560"/>
            <a:ext cx="1645920" cy="438912"/>
          </a:xfrm>
          <a:prstGeom prst="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Service</a:t>
            </a:r>
          </a:p>
        </p:txBody>
      </p:sp>
      <p:sp>
        <p:nvSpPr>
          <p:cNvPr id="15" name="Box 15"/>
          <p:cNvSpPr/>
          <p:nvPr/>
        </p:nvSpPr>
        <p:spPr>
          <a:xfrm>
            <a:off x="2148840" y="1051560"/>
            <a:ext cx="2743200" cy="438912"/>
          </a:xfrm>
          <a:prstGeom prst="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실제 파일</a:t>
            </a:r>
          </a:p>
        </p:txBody>
      </p:sp>
      <p:sp>
        <p:nvSpPr>
          <p:cNvPr id="16" name="Box 16"/>
          <p:cNvSpPr/>
          <p:nvPr/>
        </p:nvSpPr>
        <p:spPr>
          <a:xfrm>
            <a:off x="4892040" y="1051560"/>
            <a:ext cx="2286000" cy="438912"/>
          </a:xfrm>
          <a:prstGeom prst="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사용 기술</a:t>
            </a:r>
          </a:p>
        </p:txBody>
      </p:sp>
      <p:sp>
        <p:nvSpPr>
          <p:cNvPr id="17" name="Box 17"/>
          <p:cNvSpPr/>
          <p:nvPr/>
        </p:nvSpPr>
        <p:spPr>
          <a:xfrm>
            <a:off x="7178040" y="1051560"/>
            <a:ext cx="4206240" cy="438912"/>
          </a:xfrm>
          <a:prstGeom prst="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FFFFFF"/>
                </a:solidFill>
                <a:latin typeface="Malgun Gothic"/>
                <a:ea typeface="Malgun Gothic"/>
              </a:rPr>
              <a:t>주요 책임</a:t>
            </a:r>
          </a:p>
        </p:txBody>
      </p:sp>
      <p:sp>
        <p:nvSpPr>
          <p:cNvPr id="18" name="Box 18"/>
          <p:cNvSpPr/>
          <p:nvPr/>
        </p:nvSpPr>
        <p:spPr>
          <a:xfrm>
            <a:off x="502920" y="1490472"/>
            <a:ext cx="164592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streamlit_app</a:t>
            </a:r>
          </a:p>
        </p:txBody>
      </p:sp>
      <p:sp>
        <p:nvSpPr>
          <p:cNvPr id="19" name="Box 19"/>
          <p:cNvSpPr/>
          <p:nvPr/>
        </p:nvSpPr>
        <p:spPr>
          <a:xfrm>
            <a:off x="2148840" y="1490472"/>
            <a:ext cx="274320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streamlit_fitbit.py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streamlit_feedback.py</a:t>
            </a:r>
          </a:p>
        </p:txBody>
      </p:sp>
      <p:sp>
        <p:nvSpPr>
          <p:cNvPr id="20" name="Box 20"/>
          <p:cNvSpPr/>
          <p:nvPr/>
        </p:nvSpPr>
        <p:spPr>
          <a:xfrm>
            <a:off x="4892040" y="1490472"/>
            <a:ext cx="228600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Streamlit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requests</a:t>
            </a:r>
          </a:p>
        </p:txBody>
      </p:sp>
      <p:sp>
        <p:nvSpPr>
          <p:cNvPr id="21" name="Box 21"/>
          <p:cNvSpPr/>
          <p:nvPr/>
        </p:nvSpPr>
        <p:spPr>
          <a:xfrm>
            <a:off x="7178040" y="1490472"/>
            <a:ext cx="420624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사용자 입력, 버튼 이벤트, API 호출, 결과 카드 표시</a:t>
            </a:r>
          </a:p>
        </p:txBody>
      </p:sp>
      <p:sp>
        <p:nvSpPr>
          <p:cNvPr id="22" name="Box 22"/>
          <p:cNvSpPr/>
          <p:nvPr/>
        </p:nvSpPr>
        <p:spPr>
          <a:xfrm>
            <a:off x="502920" y="2112264"/>
            <a:ext cx="164592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data_service</a:t>
            </a:r>
          </a:p>
        </p:txBody>
      </p:sp>
      <p:sp>
        <p:nvSpPr>
          <p:cNvPr id="23" name="Box 23"/>
          <p:cNvSpPr/>
          <p:nvPr/>
        </p:nvSpPr>
        <p:spPr>
          <a:xfrm>
            <a:off x="2148840" y="2112264"/>
            <a:ext cx="274320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app.py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csv_to_db.py</a:t>
            </a:r>
          </a:p>
        </p:txBody>
      </p:sp>
      <p:sp>
        <p:nvSpPr>
          <p:cNvPr id="24" name="Box 24"/>
          <p:cNvSpPr/>
          <p:nvPr/>
        </p:nvSpPr>
        <p:spPr>
          <a:xfrm>
            <a:off x="4892040" y="2112264"/>
            <a:ext cx="228600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FastAPI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pandas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SQLAlchemy</a:t>
            </a:r>
          </a:p>
        </p:txBody>
      </p:sp>
      <p:sp>
        <p:nvSpPr>
          <p:cNvPr id="25" name="Box 25"/>
          <p:cNvSpPr/>
          <p:nvPr/>
        </p:nvSpPr>
        <p:spPr>
          <a:xfrm>
            <a:off x="7178040" y="2112264"/>
            <a:ext cx="420624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Fitbit/CSV 데이터를 사용자별 DB 테이블로 적재</a:t>
            </a:r>
          </a:p>
        </p:txBody>
      </p:sp>
      <p:sp>
        <p:nvSpPr>
          <p:cNvPr id="26" name="Box 26"/>
          <p:cNvSpPr/>
          <p:nvPr/>
        </p:nvSpPr>
        <p:spPr>
          <a:xfrm>
            <a:off x="502920" y="2734056"/>
            <a:ext cx="164592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ai_service</a:t>
            </a:r>
          </a:p>
        </p:txBody>
      </p:sp>
      <p:sp>
        <p:nvSpPr>
          <p:cNvPr id="27" name="Box 27"/>
          <p:cNvSpPr/>
          <p:nvPr/>
        </p:nvSpPr>
        <p:spPr>
          <a:xfrm>
            <a:off x="2148840" y="2734056"/>
            <a:ext cx="274320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app_ai.py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sleep_coach_full_kr_v6.py</a:t>
            </a:r>
          </a:p>
        </p:txBody>
      </p:sp>
      <p:sp>
        <p:nvSpPr>
          <p:cNvPr id="28" name="Box 28"/>
          <p:cNvSpPr/>
          <p:nvPr/>
        </p:nvSpPr>
        <p:spPr>
          <a:xfrm>
            <a:off x="4892040" y="2734056"/>
            <a:ext cx="228600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FastAPI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CatBoost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SHAP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OpenAI client</a:t>
            </a:r>
          </a:p>
        </p:txBody>
      </p:sp>
      <p:sp>
        <p:nvSpPr>
          <p:cNvPr id="29" name="Box 29"/>
          <p:cNvSpPr/>
          <p:nvPr/>
        </p:nvSpPr>
        <p:spPr>
          <a:xfrm>
            <a:off x="7178040" y="2734056"/>
            <a:ext cx="420624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수면 효율 예측, 영향 변수 추출, 한국어 코칭 생성</a:t>
            </a:r>
          </a:p>
        </p:txBody>
      </p:sp>
      <p:sp>
        <p:nvSpPr>
          <p:cNvPr id="30" name="Box 30"/>
          <p:cNvSpPr/>
          <p:nvPr/>
        </p:nvSpPr>
        <p:spPr>
          <a:xfrm>
            <a:off x="502920" y="3355848"/>
            <a:ext cx="164592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feedback_api</a:t>
            </a:r>
          </a:p>
        </p:txBody>
      </p:sp>
      <p:sp>
        <p:nvSpPr>
          <p:cNvPr id="31" name="Box 31"/>
          <p:cNvSpPr/>
          <p:nvPr/>
        </p:nvSpPr>
        <p:spPr>
          <a:xfrm>
            <a:off x="2148840" y="3355848"/>
            <a:ext cx="274320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main.py</a:t>
            </a:r>
          </a:p>
        </p:txBody>
      </p:sp>
      <p:sp>
        <p:nvSpPr>
          <p:cNvPr id="32" name="Box 32"/>
          <p:cNvSpPr/>
          <p:nvPr/>
        </p:nvSpPr>
        <p:spPr>
          <a:xfrm>
            <a:off x="4892040" y="3355848"/>
            <a:ext cx="228600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FastAPI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SQLAlchemy</a:t>
            </a:r>
          </a:p>
        </p:txBody>
      </p:sp>
      <p:sp>
        <p:nvSpPr>
          <p:cNvPr id="33" name="Box 33"/>
          <p:cNvSpPr/>
          <p:nvPr/>
        </p:nvSpPr>
        <p:spPr>
          <a:xfrm>
            <a:off x="7178040" y="3355848"/>
            <a:ext cx="420624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체감 수면 점수 저장 및 사용자별 피드백 테이블 생성</a:t>
            </a:r>
          </a:p>
        </p:txBody>
      </p:sp>
      <p:sp>
        <p:nvSpPr>
          <p:cNvPr id="34" name="Box 34"/>
          <p:cNvSpPr/>
          <p:nvPr/>
        </p:nvSpPr>
        <p:spPr>
          <a:xfrm>
            <a:off x="502920" y="3977640"/>
            <a:ext cx="164592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group_service</a:t>
            </a:r>
          </a:p>
        </p:txBody>
      </p:sp>
      <p:sp>
        <p:nvSpPr>
          <p:cNvPr id="35" name="Box 35"/>
          <p:cNvSpPr/>
          <p:nvPr/>
        </p:nvSpPr>
        <p:spPr>
          <a:xfrm>
            <a:off x="2148840" y="3977640"/>
            <a:ext cx="274320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main.py</a:t>
            </a:r>
          </a:p>
        </p:txBody>
      </p:sp>
      <p:sp>
        <p:nvSpPr>
          <p:cNvPr id="36" name="Box 36"/>
          <p:cNvSpPr/>
          <p:nvPr/>
        </p:nvSpPr>
        <p:spPr>
          <a:xfrm>
            <a:off x="4892040" y="3977640"/>
            <a:ext cx="228600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FastAPI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pandas</a:t>
            </a:r>
          </a:p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datetime</a:t>
            </a:r>
          </a:p>
        </p:txBody>
      </p:sp>
      <p:sp>
        <p:nvSpPr>
          <p:cNvPr id="37" name="Box 37"/>
          <p:cNvSpPr/>
          <p:nvPr/>
        </p:nvSpPr>
        <p:spPr>
          <a:xfrm>
            <a:off x="7178040" y="3977640"/>
            <a:ext cx="4206240" cy="621792"/>
          </a:xfrm>
          <a:prstGeom prst="rect">
            <a:avLst/>
          </a:prstGeom>
          <a:solidFill>
            <a:srgbClr val="FFFFFF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운동 가능 시간대 겹침 기반 파트너/그룹 추천</a:t>
            </a:r>
          </a:p>
        </p:txBody>
      </p:sp>
      <p:sp>
        <p:nvSpPr>
          <p:cNvPr id="38" name="Box 38"/>
          <p:cNvSpPr/>
          <p:nvPr/>
        </p:nvSpPr>
        <p:spPr>
          <a:xfrm>
            <a:off x="502920" y="4599432"/>
            <a:ext cx="164592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db</a:t>
            </a:r>
          </a:p>
        </p:txBody>
      </p:sp>
      <p:sp>
        <p:nvSpPr>
          <p:cNvPr id="39" name="Box 39"/>
          <p:cNvSpPr/>
          <p:nvPr/>
        </p:nvSpPr>
        <p:spPr>
          <a:xfrm>
            <a:off x="2148840" y="4599432"/>
            <a:ext cx="274320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db/init/*.sql</a:t>
            </a:r>
          </a:p>
        </p:txBody>
      </p:sp>
      <p:sp>
        <p:nvSpPr>
          <p:cNvPr id="40" name="Box 40"/>
          <p:cNvSpPr/>
          <p:nvPr/>
        </p:nvSpPr>
        <p:spPr>
          <a:xfrm>
            <a:off x="4892040" y="4599432"/>
            <a:ext cx="228600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PostgreSQL</a:t>
            </a:r>
          </a:p>
        </p:txBody>
      </p:sp>
      <p:sp>
        <p:nvSpPr>
          <p:cNvPr id="41" name="Box 41"/>
          <p:cNvSpPr/>
          <p:nvPr/>
        </p:nvSpPr>
        <p:spPr>
          <a:xfrm>
            <a:off x="7178040" y="4599432"/>
            <a:ext cx="4206240" cy="621792"/>
          </a:xfrm>
          <a:prstGeom prst="rect">
            <a:avLst/>
          </a:prstGeom>
          <a:solidFill>
            <a:srgbClr val="F1F5F9"/>
          </a:solidFill>
          <a:ln w="17145">
            <a:solidFill>
              <a:srgbClr val="CBD5E1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ko-KR" sz="820">
                <a:solidFill>
                  <a:srgbClr val="111827"/>
                </a:solidFill>
                <a:latin typeface="Malgun Gothic"/>
                <a:ea typeface="Malgun Gothic"/>
              </a:rPr>
              <a:t>예측 결과, 피드백, 추천 기준, 토큰 사용량 저장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550" b="1">
                <a:solidFill>
                  <a:srgbClr val="0F172A"/>
                </a:solidFill>
                <a:latin typeface="Malgun Gothic"/>
                <a:ea typeface="Malgun Gothic"/>
              </a:rPr>
              <a:t>데이터 저장 경계와 테이블 그룹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>
                <a:solidFill>
                  <a:srgbClr val="475569"/>
                </a:solidFill>
                <a:latin typeface="Malgun Gothic"/>
                <a:ea typeface="Malgun Gothic"/>
              </a:rPr>
              <a:t>PostgreSQL은 모든 서비스가 공유하는 상태 저장소이며, 테이블은 기능별로 분리됨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4160520" y="2057400"/>
            <a:ext cx="2834640" cy="1234440"/>
          </a:xfrm>
          <a:prstGeom prst="roundRect">
            <a:avLst/>
          </a:prstGeom>
          <a:solidFill>
            <a:srgbClr val="DBEAFE"/>
          </a:solidFill>
          <a:ln w="17145">
            <a:solidFill>
              <a:srgbClr val="2563EB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400" b="1">
                <a:solidFill>
                  <a:srgbClr val="111827"/>
                </a:solidFill>
                <a:latin typeface="Malgun Gothic"/>
                <a:ea typeface="Malgun Gothic"/>
              </a:rPr>
              <a:t>PostgreSQL</a:t>
            </a:r>
          </a:p>
          <a:p>
            <a:pPr algn="ctr"/>
            <a:r>
              <a:rPr lang="ko-KR" sz="1400" b="1">
                <a:solidFill>
                  <a:srgbClr val="111827"/>
                </a:solidFill>
                <a:latin typeface="Malgun Gothic"/>
                <a:ea typeface="Malgun Gothic"/>
              </a:rPr>
              <a:t>BioFit DB</a:t>
            </a:r>
          </a:p>
          <a:p>
            <a:pPr algn="ctr"/>
            <a:r>
              <a:rPr lang="ko-KR" sz="1400" b="1">
                <a:solidFill>
                  <a:srgbClr val="111827"/>
                </a:solidFill>
                <a:latin typeface="Malgun Gothic"/>
                <a:ea typeface="Malgun Gothic"/>
              </a:rPr>
              <a:t>central state store</a:t>
            </a:r>
          </a:p>
        </p:txBody>
      </p:sp>
      <p:sp>
        <p:nvSpPr>
          <p:cNvPr id="15" name="Box 15"/>
          <p:cNvSpPr/>
          <p:nvPr/>
        </p:nvSpPr>
        <p:spPr>
          <a:xfrm>
            <a:off x="548640" y="1234440"/>
            <a:ext cx="260604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Fitbit user tables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{uid}_sleep_summary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{uid}_activity_sum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{uid}_heart_rate_1min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{uid}_hrv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3154680" y="1856232"/>
            <a:ext cx="1005839" cy="813815"/>
          </a:xfrm>
          <a:prstGeom prst="line">
            <a:avLst/>
          </a:prstGeom>
          <a:ln w="22860">
            <a:solidFill>
              <a:srgbClr val="0284C7"/>
            </a:solidFill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548640" y="3657600"/>
            <a:ext cx="260604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AI result tables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predictions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token_usage</a:t>
            </a:r>
          </a:p>
        </p:txBody>
      </p:sp>
      <p:cxnSp>
        <p:nvCxnSpPr>
          <p:cNvPr id="18" name="Line 18"/>
          <p:cNvCxnSpPr/>
          <p:nvPr/>
        </p:nvCxnSpPr>
        <p:spPr>
          <a:xfrm flipV="1">
            <a:off x="3154680" y="2670048"/>
            <a:ext cx="1005839" cy="1609343"/>
          </a:xfrm>
          <a:prstGeom prst="line">
            <a:avLst/>
          </a:prstGeom>
          <a:ln w="22860">
            <a:solidFill>
              <a:srgbClr val="DB2777"/>
            </a:solidFill>
            <a:tailEnd type="triangle" w="med" len="med"/>
          </a:ln>
        </p:spPr>
      </p:cxnSp>
      <p:sp>
        <p:nvSpPr>
          <p:cNvPr id="19" name="Box 19"/>
          <p:cNvSpPr/>
          <p:nvPr/>
        </p:nvSpPr>
        <p:spPr>
          <a:xfrm>
            <a:off x="8183879" y="1234440"/>
            <a:ext cx="260604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Feedback tables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{uid}_feedback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sleep_score by date</a:t>
            </a:r>
          </a:p>
        </p:txBody>
      </p:sp>
      <p:cxnSp>
        <p:nvCxnSpPr>
          <p:cNvPr id="20" name="Line 20"/>
          <p:cNvCxnSpPr/>
          <p:nvPr/>
        </p:nvCxnSpPr>
        <p:spPr>
          <a:xfrm flipH="1">
            <a:off x="6995160" y="1856232"/>
            <a:ext cx="1188719" cy="813815"/>
          </a:xfrm>
          <a:prstGeom prst="line">
            <a:avLst/>
          </a:prstGeom>
          <a:ln w="22860">
            <a:solidFill>
              <a:srgbClr val="16A34A"/>
            </a:solidFill>
            <a:tailEnd type="triangle" w="med" len="med"/>
          </a:ln>
        </p:spPr>
      </p:cxnSp>
      <p:sp>
        <p:nvSpPr>
          <p:cNvPr id="21" name="Box 21"/>
          <p:cNvSpPr/>
          <p:nvPr/>
        </p:nvSpPr>
        <p:spPr>
          <a:xfrm>
            <a:off x="8183879" y="3657600"/>
            <a:ext cx="260604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Group matching schema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users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preferred_slots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group_sessions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match_history</a:t>
            </a:r>
          </a:p>
        </p:txBody>
      </p:sp>
      <p:cxnSp>
        <p:nvCxnSpPr>
          <p:cNvPr id="22" name="Line 22"/>
          <p:cNvCxnSpPr/>
          <p:nvPr/>
        </p:nvCxnSpPr>
        <p:spPr>
          <a:xfrm flipH="1" flipV="1">
            <a:off x="6995160" y="2670048"/>
            <a:ext cx="1188719" cy="1609343"/>
          </a:xfrm>
          <a:prstGeom prst="line">
            <a:avLst/>
          </a:prstGeom>
          <a:ln w="22860">
            <a:solidFill>
              <a:srgbClr val="D97706"/>
            </a:solidFill>
            <a:tailEnd type="triangle" w="med" len="med"/>
          </a:ln>
        </p:spPr>
      </p:cxnSp>
      <p:sp>
        <p:nvSpPr>
          <p:cNvPr id="23" name="Text 23"/>
          <p:cNvSpPr txBox="1"/>
          <p:nvPr/>
        </p:nvSpPr>
        <p:spPr>
          <a:xfrm>
            <a:off x="685800" y="530352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250" b="1">
                <a:solidFill>
                  <a:srgbClr val="B45309"/>
                </a:solidFill>
                <a:latin typeface="Malgun Gothic"/>
                <a:ea typeface="Malgun Gothic"/>
              </a:rPr>
              <a:t>개선 포인트: 사용자별 테이블 방식은 데모에는 직관적이지만 운영 규모에서는 공통 테이블 + user_id + 파티셔닝 구조가 더 적합하다.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550" b="1">
                <a:solidFill>
                  <a:srgbClr val="0F172A"/>
                </a:solidFill>
                <a:latin typeface="Malgun Gothic"/>
                <a:ea typeface="Malgun Gothic"/>
              </a:rPr>
              <a:t>AI Service 내부 원리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>
                <a:solidFill>
                  <a:srgbClr val="475569"/>
                </a:solidFill>
                <a:latin typeface="Malgun Gothic"/>
                <a:ea typeface="Malgun Gothic"/>
              </a:rPr>
              <a:t>ai_service는 정량 예측, 설명 변수, 자연어 코칭을 하나의 파이프라인으로 연결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502920" y="1143000"/>
            <a:ext cx="347472" cy="347472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1</a:t>
            </a:r>
          </a:p>
        </p:txBody>
      </p:sp>
      <p:sp>
        <p:nvSpPr>
          <p:cNvPr id="15" name="Box 15"/>
          <p:cNvSpPr/>
          <p:nvPr/>
        </p:nvSpPr>
        <p:spPr>
          <a:xfrm>
            <a:off x="502920" y="1600200"/>
            <a:ext cx="1325880" cy="914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read_table()</a:t>
            </a:r>
          </a:p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사용자별 DB 테이블 조회</a:t>
            </a:r>
          </a:p>
        </p:txBody>
      </p:sp>
      <p:cxnSp>
        <p:nvCxnSpPr>
          <p:cNvPr id="16" name="Line 16"/>
          <p:cNvCxnSpPr/>
          <p:nvPr/>
        </p:nvCxnSpPr>
        <p:spPr>
          <a:xfrm>
            <a:off x="1828800" y="2057400"/>
            <a:ext cx="256032" cy="9144"/>
          </a:xfrm>
          <a:prstGeom prst="line">
            <a:avLst/>
          </a:prstGeom>
          <a:ln w="22860">
            <a:solidFill>
              <a:srgbClr val="0F766E"/>
            </a:solidFill>
            <a:tailEnd type="triangle" w="med" len="med"/>
          </a:ln>
        </p:spPr>
      </p:cxnSp>
      <p:sp>
        <p:nvSpPr>
          <p:cNvPr id="17" name="Box 17"/>
          <p:cNvSpPr/>
          <p:nvPr/>
        </p:nvSpPr>
        <p:spPr>
          <a:xfrm>
            <a:off x="2084832" y="1143000"/>
            <a:ext cx="347472" cy="347472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2</a:t>
            </a:r>
          </a:p>
        </p:txBody>
      </p:sp>
      <p:sp>
        <p:nvSpPr>
          <p:cNvPr id="18" name="Box 18"/>
          <p:cNvSpPr/>
          <p:nvPr/>
        </p:nvSpPr>
        <p:spPr>
          <a:xfrm>
            <a:off x="2084832" y="1600200"/>
            <a:ext cx="1325880" cy="914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build_master()</a:t>
            </a:r>
          </a:p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수면/활동/심박/피드백 병합</a:t>
            </a:r>
          </a:p>
        </p:txBody>
      </p:sp>
      <p:cxnSp>
        <p:nvCxnSpPr>
          <p:cNvPr id="19" name="Line 19"/>
          <p:cNvCxnSpPr/>
          <p:nvPr/>
        </p:nvCxnSpPr>
        <p:spPr>
          <a:xfrm>
            <a:off x="3410712" y="2057400"/>
            <a:ext cx="256031" cy="9144"/>
          </a:xfrm>
          <a:prstGeom prst="line">
            <a:avLst/>
          </a:prstGeom>
          <a:ln w="22860">
            <a:solidFill>
              <a:srgbClr val="0F766E"/>
            </a:solidFill>
            <a:tailEnd type="triangle" w="med" len="med"/>
          </a:ln>
        </p:spPr>
      </p:cxnSp>
      <p:sp>
        <p:nvSpPr>
          <p:cNvPr id="20" name="Box 20"/>
          <p:cNvSpPr/>
          <p:nvPr/>
        </p:nvSpPr>
        <p:spPr>
          <a:xfrm>
            <a:off x="3666744" y="1143000"/>
            <a:ext cx="347472" cy="347472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21" name="Box 21"/>
          <p:cNvSpPr/>
          <p:nvPr/>
        </p:nvSpPr>
        <p:spPr>
          <a:xfrm>
            <a:off x="3666744" y="1600200"/>
            <a:ext cx="1325880" cy="914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add_roll7()</a:t>
            </a:r>
          </a:p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7일 이동평균 피처 생성</a:t>
            </a:r>
          </a:p>
        </p:txBody>
      </p:sp>
      <p:cxnSp>
        <p:nvCxnSpPr>
          <p:cNvPr id="22" name="Line 22"/>
          <p:cNvCxnSpPr/>
          <p:nvPr/>
        </p:nvCxnSpPr>
        <p:spPr>
          <a:xfrm>
            <a:off x="4992624" y="2057400"/>
            <a:ext cx="256032" cy="9144"/>
          </a:xfrm>
          <a:prstGeom prst="line">
            <a:avLst/>
          </a:prstGeom>
          <a:ln w="22860">
            <a:solidFill>
              <a:srgbClr val="0F766E"/>
            </a:solidFill>
            <a:tailEnd type="triangle" w="med" len="med"/>
          </a:ln>
        </p:spPr>
      </p:cxnSp>
      <p:sp>
        <p:nvSpPr>
          <p:cNvPr id="23" name="Box 23"/>
          <p:cNvSpPr/>
          <p:nvPr/>
        </p:nvSpPr>
        <p:spPr>
          <a:xfrm>
            <a:off x="5248655" y="1143000"/>
            <a:ext cx="347472" cy="347472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4</a:t>
            </a:r>
          </a:p>
        </p:txBody>
      </p:sp>
      <p:sp>
        <p:nvSpPr>
          <p:cNvPr id="24" name="Box 24"/>
          <p:cNvSpPr/>
          <p:nvPr/>
        </p:nvSpPr>
        <p:spPr>
          <a:xfrm>
            <a:off x="5248655" y="1600200"/>
            <a:ext cx="1325880" cy="914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CatBoost</a:t>
            </a:r>
          </a:p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efficiency 예측</a:t>
            </a:r>
          </a:p>
        </p:txBody>
      </p:sp>
      <p:cxnSp>
        <p:nvCxnSpPr>
          <p:cNvPr id="25" name="Line 25"/>
          <p:cNvCxnSpPr/>
          <p:nvPr/>
        </p:nvCxnSpPr>
        <p:spPr>
          <a:xfrm>
            <a:off x="6574536" y="2057400"/>
            <a:ext cx="256031" cy="9144"/>
          </a:xfrm>
          <a:prstGeom prst="line">
            <a:avLst/>
          </a:prstGeom>
          <a:ln w="22860">
            <a:solidFill>
              <a:srgbClr val="0F766E"/>
            </a:solidFill>
            <a:tailEnd type="triangle" w="med" len="med"/>
          </a:ln>
        </p:spPr>
      </p:cxnSp>
      <p:sp>
        <p:nvSpPr>
          <p:cNvPr id="26" name="Box 26"/>
          <p:cNvSpPr/>
          <p:nvPr/>
        </p:nvSpPr>
        <p:spPr>
          <a:xfrm>
            <a:off x="6830568" y="1143000"/>
            <a:ext cx="347472" cy="347472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5</a:t>
            </a:r>
          </a:p>
        </p:txBody>
      </p:sp>
      <p:sp>
        <p:nvSpPr>
          <p:cNvPr id="27" name="Box 27"/>
          <p:cNvSpPr/>
          <p:nvPr/>
        </p:nvSpPr>
        <p:spPr>
          <a:xfrm>
            <a:off x="6830568" y="1600200"/>
            <a:ext cx="1325880" cy="914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SHAP</a:t>
            </a:r>
          </a:p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상위 영향 변수 추출</a:t>
            </a:r>
          </a:p>
        </p:txBody>
      </p:sp>
      <p:cxnSp>
        <p:nvCxnSpPr>
          <p:cNvPr id="28" name="Line 28"/>
          <p:cNvCxnSpPr/>
          <p:nvPr/>
        </p:nvCxnSpPr>
        <p:spPr>
          <a:xfrm>
            <a:off x="8156448" y="2057400"/>
            <a:ext cx="256031" cy="9144"/>
          </a:xfrm>
          <a:prstGeom prst="line">
            <a:avLst/>
          </a:prstGeom>
          <a:ln w="22860">
            <a:solidFill>
              <a:srgbClr val="0F766E"/>
            </a:solidFill>
            <a:tailEnd type="triangle" w="med" len="med"/>
          </a:ln>
        </p:spPr>
      </p:cxnSp>
      <p:sp>
        <p:nvSpPr>
          <p:cNvPr id="29" name="Box 29"/>
          <p:cNvSpPr/>
          <p:nvPr/>
        </p:nvSpPr>
        <p:spPr>
          <a:xfrm>
            <a:off x="8412480" y="1143000"/>
            <a:ext cx="347472" cy="347472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6</a:t>
            </a:r>
          </a:p>
        </p:txBody>
      </p:sp>
      <p:sp>
        <p:nvSpPr>
          <p:cNvPr id="30" name="Box 30"/>
          <p:cNvSpPr/>
          <p:nvPr/>
        </p:nvSpPr>
        <p:spPr>
          <a:xfrm>
            <a:off x="8412480" y="1600200"/>
            <a:ext cx="1325880" cy="914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LLM</a:t>
            </a:r>
          </a:p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한국어 summary/plan 생성</a:t>
            </a:r>
          </a:p>
        </p:txBody>
      </p:sp>
      <p:cxnSp>
        <p:nvCxnSpPr>
          <p:cNvPr id="31" name="Line 31"/>
          <p:cNvCxnSpPr/>
          <p:nvPr/>
        </p:nvCxnSpPr>
        <p:spPr>
          <a:xfrm>
            <a:off x="9738360" y="2057400"/>
            <a:ext cx="256032" cy="9144"/>
          </a:xfrm>
          <a:prstGeom prst="line">
            <a:avLst/>
          </a:prstGeom>
          <a:ln w="22860">
            <a:solidFill>
              <a:srgbClr val="0F766E"/>
            </a:solidFill>
            <a:tailEnd type="triangle" w="med" len="med"/>
          </a:ln>
        </p:spPr>
      </p:cxnSp>
      <p:sp>
        <p:nvSpPr>
          <p:cNvPr id="32" name="Box 32"/>
          <p:cNvSpPr/>
          <p:nvPr/>
        </p:nvSpPr>
        <p:spPr>
          <a:xfrm>
            <a:off x="9994392" y="1143000"/>
            <a:ext cx="347472" cy="347472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7</a:t>
            </a:r>
          </a:p>
        </p:txBody>
      </p:sp>
      <p:sp>
        <p:nvSpPr>
          <p:cNvPr id="33" name="Box 33"/>
          <p:cNvSpPr/>
          <p:nvPr/>
        </p:nvSpPr>
        <p:spPr>
          <a:xfrm>
            <a:off x="9994392" y="1600200"/>
            <a:ext cx="1325880" cy="91440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predictions</a:t>
            </a:r>
          </a:p>
          <a:p>
            <a:pPr algn="ctr"/>
            <a:r>
              <a:rPr lang="ko-KR" sz="850" b="1">
                <a:solidFill>
                  <a:srgbClr val="111827"/>
                </a:solidFill>
                <a:latin typeface="Malgun Gothic"/>
                <a:ea typeface="Malgun Gothic"/>
              </a:rPr>
              <a:t>run_id와 message 저장</a:t>
            </a:r>
          </a:p>
        </p:txBody>
      </p:sp>
      <p:sp>
        <p:nvSpPr>
          <p:cNvPr id="34" name="Box 34"/>
          <p:cNvSpPr/>
          <p:nvPr/>
        </p:nvSpPr>
        <p:spPr>
          <a:xfrm>
            <a:off x="960120" y="3657600"/>
            <a:ext cx="2880360" cy="822960"/>
          </a:xfrm>
          <a:prstGeom prst="roundRect">
            <a:avLst/>
          </a:prstGeom>
          <a:solidFill>
            <a:srgbClr val="FCE7F3"/>
          </a:solidFill>
          <a:ln w="17145">
            <a:solidFill>
              <a:srgbClr val="DB277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CatBoost 역할</a:t>
            </a:r>
          </a:p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수면 효율을 수치로 예측</a:t>
            </a:r>
          </a:p>
        </p:txBody>
      </p:sp>
      <p:sp>
        <p:nvSpPr>
          <p:cNvPr id="35" name="Box 35"/>
          <p:cNvSpPr/>
          <p:nvPr/>
        </p:nvSpPr>
        <p:spPr>
          <a:xfrm>
            <a:off x="4480560" y="3657600"/>
            <a:ext cx="2880360" cy="822960"/>
          </a:xfrm>
          <a:prstGeom prst="roundRect">
            <a:avLst/>
          </a:prstGeom>
          <a:solidFill>
            <a:srgbClr val="EDE9FE"/>
          </a:solidFill>
          <a:ln w="17145">
            <a:solidFill>
              <a:srgbClr val="7C3AED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SHAP 역할</a:t>
            </a:r>
          </a:p>
          <a:p>
            <a:pPr algn="ctr"/>
            <a:r>
              <a:rPr lang="ko-KR" sz="1200" b="1">
                <a:solidFill>
                  <a:srgbClr val="111827"/>
                </a:solidFill>
                <a:latin typeface="Malgun Gothic"/>
                <a:ea typeface="Malgun Gothic"/>
              </a:rPr>
              <a:t>예측 근거 변수 설명</a:t>
            </a:r>
          </a:p>
        </p:txBody>
      </p:sp>
      <p:sp>
        <p:nvSpPr>
          <p:cNvPr id="36" name="Box 36"/>
          <p:cNvSpPr/>
          <p:nvPr/>
        </p:nvSpPr>
        <p:spPr>
          <a:xfrm>
            <a:off x="8001000" y="3657600"/>
            <a:ext cx="2880360" cy="822960"/>
          </a:xfrm>
          <a:prstGeom prst="roundRect">
            <a:avLst/>
          </a:prstGeom>
          <a:solidFill>
            <a:srgbClr val="FEF3C7"/>
          </a:solidFill>
          <a:ln w="17145">
            <a:solidFill>
              <a:srgbClr val="D9770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LLM 역할</a:t>
            </a:r>
          </a:p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트레이너가 읽을 문장 생성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685800" y="516636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250" b="1">
                <a:solidFill>
                  <a:srgbClr val="334155"/>
                </a:solidFill>
                <a:latin typeface="Malgun Gothic"/>
                <a:ea typeface="Malgun Gothic"/>
              </a:rPr>
              <a:t>중요: LLM이 단독으로 조언하는 구조가 아니라, CatBoost 예측값과 SHAP 설명 결과를 프롬프트에 넣어 코칭 문장을 생성한다.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2550" b="1">
                <a:solidFill>
                  <a:srgbClr val="0F172A"/>
                </a:solidFill>
                <a:latin typeface="Malgun Gothic"/>
                <a:ea typeface="Malgun Gothic"/>
              </a:rPr>
              <a:t>운영 전환 시 보안/배포 보완안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l"/>
            <a:r>
              <a:rPr lang="ko-KR" sz="1150">
                <a:solidFill>
                  <a:srgbClr val="475569"/>
                </a:solidFill>
                <a:latin typeface="Malgun Gothic"/>
                <a:ea typeface="Malgun Gothic"/>
              </a:rPr>
              <a:t>현재 구현과 발표자료의 보안 설계 항목을 혼동하지 않도록 분리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685800" y="1325880"/>
            <a:ext cx="2834640" cy="960120"/>
          </a:xfrm>
          <a:prstGeom prst="roundRect">
            <a:avLst/>
          </a:prstGeom>
          <a:solidFill>
            <a:srgbClr val="FEE2E2"/>
          </a:solidFill>
          <a:ln w="17145">
            <a:solidFill>
              <a:srgbClr val="DC2626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현재 구현</a:t>
            </a:r>
          </a:p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Docker Compose 내부 HTTP</a:t>
            </a:r>
          </a:p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uid 기반 요청 신뢰</a:t>
            </a:r>
          </a:p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FastAPI 포트 노출</a:t>
            </a:r>
          </a:p>
        </p:txBody>
      </p:sp>
      <p:sp>
        <p:nvSpPr>
          <p:cNvPr id="15" name="Box 15"/>
          <p:cNvSpPr/>
          <p:nvPr/>
        </p:nvSpPr>
        <p:spPr>
          <a:xfrm>
            <a:off x="4389120" y="1325880"/>
            <a:ext cx="2834640" cy="960120"/>
          </a:xfrm>
          <a:prstGeom prst="roundRect">
            <a:avLst/>
          </a:prstGeom>
          <a:solidFill>
            <a:srgbClr val="E0F2FE"/>
          </a:solidFill>
          <a:ln w="17145">
            <a:solidFill>
              <a:srgbClr val="0284C7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1차 보완</a:t>
            </a:r>
          </a:p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HTTPS/TLS Reverse Proxy</a:t>
            </a:r>
          </a:p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API Gateway</a:t>
            </a:r>
          </a:p>
          <a:p>
            <a:pPr algn="ctr"/>
            <a:r>
              <a:rPr lang="ko-KR" sz="1150" b="1">
                <a:solidFill>
                  <a:srgbClr val="111827"/>
                </a:solidFill>
                <a:latin typeface="Malgun Gothic"/>
                <a:ea typeface="Malgun Gothic"/>
              </a:rPr>
              <a:t>rate limit / logging</a:t>
            </a:r>
          </a:p>
        </p:txBody>
      </p:sp>
      <p:sp>
        <p:nvSpPr>
          <p:cNvPr id="16" name="Box 16"/>
          <p:cNvSpPr/>
          <p:nvPr/>
        </p:nvSpPr>
        <p:spPr>
          <a:xfrm>
            <a:off x="8092440" y="1325880"/>
            <a:ext cx="2834640" cy="960120"/>
          </a:xfrm>
          <a:prstGeom prst="roundRect">
            <a:avLst/>
          </a:prstGeom>
          <a:solidFill>
            <a:srgbClr val="DCFCE7"/>
          </a:solidFill>
          <a:ln w="17145">
            <a:solidFill>
              <a:srgbClr val="16A34A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2차 보완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OAuth2 / JWT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Trainer, Member, Device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role &amp; scope 검증</a:t>
            </a:r>
          </a:p>
        </p:txBody>
      </p:sp>
      <p:cxnSp>
        <p:nvCxnSpPr>
          <p:cNvPr id="17" name="Line 17"/>
          <p:cNvCxnSpPr/>
          <p:nvPr/>
        </p:nvCxnSpPr>
        <p:spPr>
          <a:xfrm>
            <a:off x="3520440" y="1810512"/>
            <a:ext cx="868679" cy="9144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cxnSp>
        <p:nvCxnSpPr>
          <p:cNvPr id="18" name="Line 18"/>
          <p:cNvCxnSpPr/>
          <p:nvPr/>
        </p:nvCxnSpPr>
        <p:spPr>
          <a:xfrm>
            <a:off x="7223760" y="1810512"/>
            <a:ext cx="868679" cy="9144"/>
          </a:xfrm>
          <a:prstGeom prst="line">
            <a:avLst/>
          </a:prstGeom>
          <a:ln w="22860">
            <a:solidFill>
              <a:srgbClr val="64748B"/>
            </a:solidFill>
            <a:tailEnd type="triangle" w="med" len="med"/>
          </a:ln>
        </p:spPr>
      </p:cxnSp>
      <p:sp>
        <p:nvSpPr>
          <p:cNvPr id="19" name="Box 19"/>
          <p:cNvSpPr/>
          <p:nvPr/>
        </p:nvSpPr>
        <p:spPr>
          <a:xfrm>
            <a:off x="914400" y="3154680"/>
            <a:ext cx="10424160" cy="123444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334155"/>
            </a:solidFill>
          </a:ln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권장 운영 경계</a:t>
            </a:r>
          </a:p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Client -&gt; HTTPS Proxy -&gt; Auth/Core API -&gt; Internal FastAPI Services -&gt; PostgreSQL</a:t>
            </a:r>
          </a:p>
          <a:p>
            <a:pPr algn="ctr"/>
            <a:r>
              <a:rPr lang="ko-KR" sz="1250" b="1">
                <a:solidFill>
                  <a:srgbClr val="111827"/>
                </a:solidFill>
                <a:latin typeface="Malgun Gothic"/>
                <a:ea typeface="Malgun Gothic"/>
              </a:rPr>
              <a:t>외부 요청은 인증 계층을 통과하고, AI/Data/Feedback/Group 서비스는 내부 네트워크에서만 호출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22960" y="4983480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ko-KR" sz="1250" b="1">
                <a:solidFill>
                  <a:srgbClr val="B91C1C"/>
                </a:solidFill>
                <a:latin typeface="Malgun Gothic"/>
                <a:ea typeface="Malgun Gothic"/>
              </a:rPr>
              <a:t>현재 코드에 Django REST Framework, OAuth2/JWT, TLS 설정은 없음. 따라서 “구현 완료”가 아니라 “운영 고도화 설계”로 설명해야 정확하다.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ko-KR" sz="2450" b="1">
                <a:solidFill>
                  <a:srgbClr val="0F172A"/>
                </a:solidFill>
                <a:latin typeface="Malgun Gothic"/>
                <a:ea typeface="Malgun Gothic"/>
              </a:rPr>
              <a:t>Data Flow Diagram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ko-KR" sz="1100">
                <a:solidFill>
                  <a:srgbClr val="475569"/>
                </a:solidFill>
                <a:latin typeface="Malgun Gothic"/>
                <a:ea typeface="Malgun Gothic"/>
              </a:rPr>
              <a:t>데이터가 생성, 저장, 가공, 소비되는 방향을 기준으로 표현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502920" y="1234440"/>
            <a:ext cx="1508760" cy="685800"/>
          </a:xfrm>
          <a:prstGeom prst="roundRect">
            <a:avLst/>
          </a:prstGeom>
          <a:solidFill>
            <a:srgbClr val="E0F2FE"/>
          </a:solidFill>
          <a:ln w="17145">
            <a:solidFill>
              <a:srgbClr val="0284C7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Fitbit API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wearable data</a:t>
            </a:r>
          </a:p>
        </p:txBody>
      </p:sp>
      <p:sp>
        <p:nvSpPr>
          <p:cNvPr id="15" name="Box 15"/>
          <p:cNvSpPr/>
          <p:nvPr/>
        </p:nvSpPr>
        <p:spPr>
          <a:xfrm>
            <a:off x="502920" y="2240280"/>
            <a:ext cx="1508760" cy="685800"/>
          </a:xfrm>
          <a:prstGeom prst="roundRect">
            <a:avLst/>
          </a:prstGeom>
          <a:solidFill>
            <a:srgbClr val="DCFCE7"/>
          </a:solidFill>
          <a:ln w="17145">
            <a:solidFill>
              <a:srgbClr val="16A34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User Feedback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sleep_score</a:t>
            </a:r>
          </a:p>
        </p:txBody>
      </p:sp>
      <p:sp>
        <p:nvSpPr>
          <p:cNvPr id="16" name="Box 16"/>
          <p:cNvSpPr/>
          <p:nvPr/>
        </p:nvSpPr>
        <p:spPr>
          <a:xfrm>
            <a:off x="502920" y="3246120"/>
            <a:ext cx="1508760" cy="685800"/>
          </a:xfrm>
          <a:prstGeom prst="roundRect">
            <a:avLst/>
          </a:prstGeom>
          <a:solidFill>
            <a:srgbClr val="FEF3C7"/>
          </a:solidFill>
          <a:ln w="17145">
            <a:solidFill>
              <a:srgbClr val="D97706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Group Seed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users / slots</a:t>
            </a:r>
          </a:p>
        </p:txBody>
      </p:sp>
      <p:sp>
        <p:nvSpPr>
          <p:cNvPr id="17" name="Box 17"/>
          <p:cNvSpPr/>
          <p:nvPr/>
        </p:nvSpPr>
        <p:spPr>
          <a:xfrm>
            <a:off x="2651760" y="1417320"/>
            <a:ext cx="1600200" cy="7315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0284C7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Data Service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CSV loader</a:t>
            </a:r>
          </a:p>
        </p:txBody>
      </p:sp>
      <p:sp>
        <p:nvSpPr>
          <p:cNvPr id="18" name="Box 18"/>
          <p:cNvSpPr/>
          <p:nvPr/>
        </p:nvSpPr>
        <p:spPr>
          <a:xfrm>
            <a:off x="2651760" y="2423160"/>
            <a:ext cx="1600200" cy="731520"/>
          </a:xfrm>
          <a:prstGeom prst="roundRect">
            <a:avLst/>
          </a:prstGeom>
          <a:solidFill>
            <a:srgbClr val="FFFFFF"/>
          </a:solidFill>
          <a:ln w="17145">
            <a:solidFill>
              <a:srgbClr val="16A34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Feedback API</a:t>
            </a:r>
          </a:p>
        </p:txBody>
      </p:sp>
      <p:sp>
        <p:nvSpPr>
          <p:cNvPr id="19" name="Box 19"/>
          <p:cNvSpPr/>
          <p:nvPr/>
        </p:nvSpPr>
        <p:spPr>
          <a:xfrm>
            <a:off x="4800600" y="1965960"/>
            <a:ext cx="1920240" cy="960120"/>
          </a:xfrm>
          <a:prstGeom prst="roundRect">
            <a:avLst/>
          </a:prstGeom>
          <a:solidFill>
            <a:srgbClr val="DBEAFE"/>
          </a:solidFill>
          <a:ln w="17145">
            <a:solidFill>
              <a:srgbClr val="2563EB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PostgreSQL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raw + feedback +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recommendation tables</a:t>
            </a:r>
          </a:p>
        </p:txBody>
      </p:sp>
      <p:sp>
        <p:nvSpPr>
          <p:cNvPr id="20" name="Box 20"/>
          <p:cNvSpPr/>
          <p:nvPr/>
        </p:nvSpPr>
        <p:spPr>
          <a:xfrm>
            <a:off x="7315200" y="1234440"/>
            <a:ext cx="1828800" cy="685800"/>
          </a:xfrm>
          <a:prstGeom prst="roundRect">
            <a:avLst/>
          </a:prstGeom>
          <a:solidFill>
            <a:srgbClr val="FCE7F3"/>
          </a:solidFill>
          <a:ln w="17145">
            <a:solidFill>
              <a:srgbClr val="DB2777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AI Service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feature build</a:t>
            </a:r>
          </a:p>
        </p:txBody>
      </p:sp>
      <p:sp>
        <p:nvSpPr>
          <p:cNvPr id="21" name="Box 21"/>
          <p:cNvSpPr/>
          <p:nvPr/>
        </p:nvSpPr>
        <p:spPr>
          <a:xfrm>
            <a:off x="7315200" y="2148840"/>
            <a:ext cx="1828800" cy="685800"/>
          </a:xfrm>
          <a:prstGeom prst="roundRect">
            <a:avLst/>
          </a:prstGeom>
          <a:solidFill>
            <a:srgbClr val="FCE7F3"/>
          </a:solidFill>
          <a:ln w="17145">
            <a:solidFill>
              <a:srgbClr val="DB2777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CatBoost + SHAP</a:t>
            </a:r>
          </a:p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analysis result</a:t>
            </a:r>
          </a:p>
        </p:txBody>
      </p:sp>
      <p:sp>
        <p:nvSpPr>
          <p:cNvPr id="22" name="Box 22"/>
          <p:cNvSpPr/>
          <p:nvPr/>
        </p:nvSpPr>
        <p:spPr>
          <a:xfrm>
            <a:off x="7315200" y="3063240"/>
            <a:ext cx="1828800" cy="685800"/>
          </a:xfrm>
          <a:prstGeom prst="roundRect">
            <a:avLst/>
          </a:prstGeom>
          <a:solidFill>
            <a:srgbClr val="EDE9FE"/>
          </a:solidFill>
          <a:ln w="17145">
            <a:solidFill>
              <a:srgbClr val="7C3AED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LLM Coaching</a:t>
            </a:r>
          </a:p>
          <a:p>
            <a:pPr algn="ctr"/>
            <a:r>
              <a:rPr lang="ko-KR" sz="950" b="1">
                <a:solidFill>
                  <a:srgbClr val="111827"/>
                </a:solidFill>
                <a:latin typeface="Malgun Gothic"/>
                <a:ea typeface="Malgun Gothic"/>
              </a:rPr>
              <a:t>message</a:t>
            </a:r>
          </a:p>
        </p:txBody>
      </p:sp>
      <p:sp>
        <p:nvSpPr>
          <p:cNvPr id="23" name="Box 23"/>
          <p:cNvSpPr/>
          <p:nvPr/>
        </p:nvSpPr>
        <p:spPr>
          <a:xfrm>
            <a:off x="9829800" y="1874519"/>
            <a:ext cx="1508760" cy="914400"/>
          </a:xfrm>
          <a:prstGeom prst="roundRect">
            <a:avLst/>
          </a:prstGeom>
          <a:solidFill>
            <a:srgbClr val="DCFCE7"/>
          </a:solidFill>
          <a:ln w="17145">
            <a:solidFill>
              <a:srgbClr val="16A34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Streamlit</a:t>
            </a:r>
          </a:p>
          <a:p>
            <a:pPr algn="ctr"/>
            <a:r>
              <a:rPr lang="ko-KR" sz="1050" b="1">
                <a:solidFill>
                  <a:srgbClr val="111827"/>
                </a:solidFill>
                <a:latin typeface="Malgun Gothic"/>
                <a:ea typeface="Malgun Gothic"/>
              </a:rPr>
              <a:t>Report UI</a:t>
            </a:r>
          </a:p>
        </p:txBody>
      </p:sp>
      <p:cxnSp>
        <p:nvCxnSpPr>
          <p:cNvPr id="24" name="Arrow 24"/>
          <p:cNvCxnSpPr/>
          <p:nvPr/>
        </p:nvCxnSpPr>
        <p:spPr>
          <a:xfrm>
            <a:off x="2011680" y="1572768"/>
            <a:ext cx="640079" cy="210311"/>
          </a:xfrm>
          <a:prstGeom prst="line">
            <a:avLst/>
          </a:prstGeom>
          <a:ln w="19050">
            <a:solidFill>
              <a:srgbClr val="0284C7"/>
            </a:solidFill>
            <a:tailEnd type="triangle" w="med" len="med"/>
          </a:ln>
        </p:spPr>
      </p:cxnSp>
      <p:cxnSp>
        <p:nvCxnSpPr>
          <p:cNvPr id="25" name="Arrow 25"/>
          <p:cNvCxnSpPr/>
          <p:nvPr/>
        </p:nvCxnSpPr>
        <p:spPr>
          <a:xfrm>
            <a:off x="2011680" y="2578608"/>
            <a:ext cx="640079" cy="210311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</p:cxnSp>
      <p:cxnSp>
        <p:nvCxnSpPr>
          <p:cNvPr id="26" name="Arrow 26"/>
          <p:cNvCxnSpPr/>
          <p:nvPr/>
        </p:nvCxnSpPr>
        <p:spPr>
          <a:xfrm flipV="1">
            <a:off x="2011680" y="2514600"/>
            <a:ext cx="2788920" cy="1069848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</p:cxnSp>
      <p:cxnSp>
        <p:nvCxnSpPr>
          <p:cNvPr id="27" name="Arrow 27"/>
          <p:cNvCxnSpPr/>
          <p:nvPr/>
        </p:nvCxnSpPr>
        <p:spPr>
          <a:xfrm>
            <a:off x="4251960" y="1783080"/>
            <a:ext cx="548639" cy="548639"/>
          </a:xfrm>
          <a:prstGeom prst="line">
            <a:avLst/>
          </a:prstGeom>
          <a:ln w="19050">
            <a:solidFill>
              <a:srgbClr val="0284C7"/>
            </a:solidFill>
            <a:tailEnd type="triangle" w="med" len="med"/>
          </a:ln>
        </p:spPr>
      </p:cxnSp>
      <p:cxnSp>
        <p:nvCxnSpPr>
          <p:cNvPr id="28" name="Arrow 28"/>
          <p:cNvCxnSpPr/>
          <p:nvPr/>
        </p:nvCxnSpPr>
        <p:spPr>
          <a:xfrm flipV="1">
            <a:off x="4251960" y="2514600"/>
            <a:ext cx="548639" cy="274319"/>
          </a:xfrm>
          <a:prstGeom prst="line">
            <a:avLst/>
          </a:prstGeom>
          <a:ln w="19050">
            <a:solidFill>
              <a:srgbClr val="16A34A"/>
            </a:solidFill>
            <a:tailEnd type="triangle" w="med" len="med"/>
          </a:ln>
        </p:spPr>
      </p:cxnSp>
      <p:cxnSp>
        <p:nvCxnSpPr>
          <p:cNvPr id="29" name="Arrow 29"/>
          <p:cNvCxnSpPr/>
          <p:nvPr/>
        </p:nvCxnSpPr>
        <p:spPr>
          <a:xfrm flipV="1">
            <a:off x="6720840" y="1572768"/>
            <a:ext cx="594360" cy="667512"/>
          </a:xfrm>
          <a:prstGeom prst="line">
            <a:avLst/>
          </a:prstGeom>
          <a:ln w="19050">
            <a:solidFill>
              <a:srgbClr val="2563EB"/>
            </a:solidFill>
            <a:tailEnd type="triangle" w="med" len="med"/>
          </a:ln>
        </p:spPr>
      </p:cxnSp>
      <p:cxnSp>
        <p:nvCxnSpPr>
          <p:cNvPr id="30" name="Arrow 30"/>
          <p:cNvCxnSpPr/>
          <p:nvPr/>
        </p:nvCxnSpPr>
        <p:spPr>
          <a:xfrm>
            <a:off x="8229600" y="1920240"/>
            <a:ext cx="9144" cy="228600"/>
          </a:xfrm>
          <a:prstGeom prst="line">
            <a:avLst/>
          </a:prstGeom>
          <a:ln w="19050">
            <a:solidFill>
              <a:srgbClr val="DB2777"/>
            </a:solidFill>
            <a:tailEnd type="triangle" w="med" len="med"/>
          </a:ln>
        </p:spPr>
      </p:cxnSp>
      <p:cxnSp>
        <p:nvCxnSpPr>
          <p:cNvPr id="31" name="Arrow 31"/>
          <p:cNvCxnSpPr/>
          <p:nvPr/>
        </p:nvCxnSpPr>
        <p:spPr>
          <a:xfrm>
            <a:off x="8229600" y="2834640"/>
            <a:ext cx="9144" cy="228600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</p:cxnSp>
      <p:cxnSp>
        <p:nvCxnSpPr>
          <p:cNvPr id="32" name="Arrow 32"/>
          <p:cNvCxnSpPr/>
          <p:nvPr/>
        </p:nvCxnSpPr>
        <p:spPr>
          <a:xfrm flipV="1">
            <a:off x="9144000" y="2331720"/>
            <a:ext cx="685800" cy="1069848"/>
          </a:xfrm>
          <a:prstGeom prst="line">
            <a:avLst/>
          </a:prstGeom>
          <a:ln w="19050">
            <a:solidFill>
              <a:srgbClr val="7C3AED"/>
            </a:solidFill>
            <a:tailEnd type="triangle" w="med" len="med"/>
          </a:ln>
        </p:spPr>
      </p:cxnSp>
      <p:cxnSp>
        <p:nvCxnSpPr>
          <p:cNvPr id="33" name="Arrow 33"/>
          <p:cNvCxnSpPr/>
          <p:nvPr/>
        </p:nvCxnSpPr>
        <p:spPr>
          <a:xfrm flipV="1">
            <a:off x="6720840" y="2331720"/>
            <a:ext cx="3108960" cy="182880"/>
          </a:xfrm>
          <a:prstGeom prst="line">
            <a:avLst/>
          </a:prstGeom>
          <a:ln w="19050">
            <a:solidFill>
              <a:srgbClr val="D97706"/>
            </a:solidFill>
            <a:tailEnd type="triangle" w="med" len="med"/>
          </a:ln>
        </p:spPr>
      </p:cxnSp>
      <p:sp>
        <p:nvSpPr>
          <p:cNvPr id="34" name="Text 34"/>
          <p:cNvSpPr txBox="1"/>
          <p:nvPr/>
        </p:nvSpPr>
        <p:spPr>
          <a:xfrm>
            <a:off x="640080" y="5074920"/>
            <a:ext cx="1042416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250" b="1">
                <a:solidFill>
                  <a:srgbClr val="334155"/>
                </a:solidFill>
                <a:latin typeface="Malgun Gothic"/>
                <a:ea typeface="Malgun Gothic"/>
              </a:rPr>
              <a:t>MSA 구조도와 차이: 여기서는 “누가 호출하는가”가 아니라 “데이터가 어디서 생성되어 어디로 흘러가는가”를 보여준다.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ko-KR" sz="2450" b="1">
                <a:solidFill>
                  <a:srgbClr val="0F172A"/>
                </a:solidFill>
                <a:latin typeface="Malgun Gothic"/>
                <a:ea typeface="Malgun Gothic"/>
              </a:rPr>
              <a:t>Sequence Diagram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ko-KR" sz="1100">
                <a:solidFill>
                  <a:srgbClr val="475569"/>
                </a:solidFill>
                <a:latin typeface="Malgun Gothic"/>
                <a:ea typeface="Malgun Gothic"/>
              </a:rPr>
              <a:t>사용자 액션 이후 서비스 간 호출 순서를 시간 흐름으로 표현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7145">
            <a:solidFill>
              <a:srgbClr val="0F766E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548640" y="868680"/>
            <a:ext cx="1051560" cy="411480"/>
          </a:xfrm>
          <a:prstGeom prst="round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User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1078992" y="1325880"/>
            <a:ext cx="9144" cy="3977639"/>
          </a:xfrm>
          <a:prstGeom prst="line">
            <a:avLst/>
          </a:prstGeom>
          <a:ln w="10000">
            <a:solidFill>
              <a:srgbClr val="CBD5E1"/>
            </a:solidFill>
          </a:ln>
        </p:spPr>
      </p:cxnSp>
      <p:sp>
        <p:nvSpPr>
          <p:cNvPr id="16" name="Box 16"/>
          <p:cNvSpPr/>
          <p:nvPr/>
        </p:nvSpPr>
        <p:spPr>
          <a:xfrm>
            <a:off x="2057400" y="868680"/>
            <a:ext cx="1051560" cy="411480"/>
          </a:xfrm>
          <a:prstGeom prst="round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Streamlit</a:t>
            </a:r>
          </a:p>
        </p:txBody>
      </p:sp>
      <p:cxnSp>
        <p:nvCxnSpPr>
          <p:cNvPr id="17" name="Arrow 17"/>
          <p:cNvCxnSpPr/>
          <p:nvPr/>
        </p:nvCxnSpPr>
        <p:spPr>
          <a:xfrm>
            <a:off x="2587752" y="1325880"/>
            <a:ext cx="9144" cy="3977639"/>
          </a:xfrm>
          <a:prstGeom prst="line">
            <a:avLst/>
          </a:prstGeom>
          <a:ln w="10000">
            <a:solidFill>
              <a:srgbClr val="CBD5E1"/>
            </a:solidFill>
          </a:ln>
        </p:spPr>
      </p:cxnSp>
      <p:sp>
        <p:nvSpPr>
          <p:cNvPr id="18" name="Box 18"/>
          <p:cNvSpPr/>
          <p:nvPr/>
        </p:nvSpPr>
        <p:spPr>
          <a:xfrm>
            <a:off x="3611880" y="868680"/>
            <a:ext cx="1051560" cy="411480"/>
          </a:xfrm>
          <a:prstGeom prst="round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Data API</a:t>
            </a:r>
          </a:p>
        </p:txBody>
      </p:sp>
      <p:cxnSp>
        <p:nvCxnSpPr>
          <p:cNvPr id="19" name="Arrow 19"/>
          <p:cNvCxnSpPr/>
          <p:nvPr/>
        </p:nvCxnSpPr>
        <p:spPr>
          <a:xfrm>
            <a:off x="4142232" y="1325880"/>
            <a:ext cx="9144" cy="3977639"/>
          </a:xfrm>
          <a:prstGeom prst="line">
            <a:avLst/>
          </a:prstGeom>
          <a:ln w="10000">
            <a:solidFill>
              <a:srgbClr val="CBD5E1"/>
            </a:solidFill>
          </a:ln>
        </p:spPr>
      </p:cxnSp>
      <p:sp>
        <p:nvSpPr>
          <p:cNvPr id="20" name="Box 20"/>
          <p:cNvSpPr/>
          <p:nvPr/>
        </p:nvSpPr>
        <p:spPr>
          <a:xfrm>
            <a:off x="5166360" y="868680"/>
            <a:ext cx="1051560" cy="411480"/>
          </a:xfrm>
          <a:prstGeom prst="round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PostgreSQL</a:t>
            </a:r>
          </a:p>
        </p:txBody>
      </p:sp>
      <p:cxnSp>
        <p:nvCxnSpPr>
          <p:cNvPr id="21" name="Arrow 21"/>
          <p:cNvCxnSpPr/>
          <p:nvPr/>
        </p:nvCxnSpPr>
        <p:spPr>
          <a:xfrm>
            <a:off x="5696712" y="1325880"/>
            <a:ext cx="9144" cy="3977639"/>
          </a:xfrm>
          <a:prstGeom prst="line">
            <a:avLst/>
          </a:prstGeom>
          <a:ln w="10000">
            <a:solidFill>
              <a:srgbClr val="CBD5E1"/>
            </a:solidFill>
          </a:ln>
        </p:spPr>
      </p:cxnSp>
      <p:sp>
        <p:nvSpPr>
          <p:cNvPr id="22" name="Box 22"/>
          <p:cNvSpPr/>
          <p:nvPr/>
        </p:nvSpPr>
        <p:spPr>
          <a:xfrm>
            <a:off x="6720840" y="868680"/>
            <a:ext cx="1051560" cy="411480"/>
          </a:xfrm>
          <a:prstGeom prst="round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AI API</a:t>
            </a:r>
          </a:p>
        </p:txBody>
      </p:sp>
      <p:cxnSp>
        <p:nvCxnSpPr>
          <p:cNvPr id="23" name="Arrow 23"/>
          <p:cNvCxnSpPr/>
          <p:nvPr/>
        </p:nvCxnSpPr>
        <p:spPr>
          <a:xfrm>
            <a:off x="7251192" y="1325880"/>
            <a:ext cx="9144" cy="3977639"/>
          </a:xfrm>
          <a:prstGeom prst="line">
            <a:avLst/>
          </a:prstGeom>
          <a:ln w="10000">
            <a:solidFill>
              <a:srgbClr val="CBD5E1"/>
            </a:solidFill>
          </a:ln>
        </p:spPr>
      </p:cxnSp>
      <p:sp>
        <p:nvSpPr>
          <p:cNvPr id="24" name="Box 24"/>
          <p:cNvSpPr/>
          <p:nvPr/>
        </p:nvSpPr>
        <p:spPr>
          <a:xfrm>
            <a:off x="8275320" y="868680"/>
            <a:ext cx="1051560" cy="411480"/>
          </a:xfrm>
          <a:prstGeom prst="round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vLLM</a:t>
            </a:r>
          </a:p>
        </p:txBody>
      </p:sp>
      <p:cxnSp>
        <p:nvCxnSpPr>
          <p:cNvPr id="25" name="Arrow 25"/>
          <p:cNvCxnSpPr/>
          <p:nvPr/>
        </p:nvCxnSpPr>
        <p:spPr>
          <a:xfrm>
            <a:off x="8805672" y="1325880"/>
            <a:ext cx="9144" cy="3977639"/>
          </a:xfrm>
          <a:prstGeom prst="line">
            <a:avLst/>
          </a:prstGeom>
          <a:ln w="10000">
            <a:solidFill>
              <a:srgbClr val="CBD5E1"/>
            </a:solidFill>
          </a:ln>
        </p:spPr>
      </p:cxnSp>
      <p:sp>
        <p:nvSpPr>
          <p:cNvPr id="26" name="Box 26"/>
          <p:cNvSpPr/>
          <p:nvPr/>
        </p:nvSpPr>
        <p:spPr>
          <a:xfrm>
            <a:off x="9829800" y="868680"/>
            <a:ext cx="1051560" cy="411480"/>
          </a:xfrm>
          <a:prstGeom prst="roundRect">
            <a:avLst/>
          </a:prstGeom>
          <a:solidFill>
            <a:srgbClr val="0F172A"/>
          </a:solidFill>
          <a:ln w="17145">
            <a:solidFill>
              <a:srgbClr val="0F172A"/>
            </a:solidFill>
          </a:ln>
        </p:spPr>
        <p:txBody>
          <a:bodyPr wrap="square" anchor="mid" lIns="91440" rIns="91440">
            <a:spAutoFit/>
          </a:bodyPr>
          <a:lstStyle/>
          <a:p>
            <a:pPr algn="ctr"/>
            <a:r>
              <a:rPr lang="ko-KR" sz="850" b="1">
                <a:solidFill>
                  <a:srgbClr val="FFFFFF"/>
                </a:solidFill>
                <a:latin typeface="Malgun Gothic"/>
                <a:ea typeface="Malgun Gothic"/>
              </a:rPr>
              <a:t>Group API</a:t>
            </a:r>
          </a:p>
        </p:txBody>
      </p:sp>
      <p:cxnSp>
        <p:nvCxnSpPr>
          <p:cNvPr id="27" name="Arrow 27"/>
          <p:cNvCxnSpPr/>
          <p:nvPr/>
        </p:nvCxnSpPr>
        <p:spPr>
          <a:xfrm>
            <a:off x="10360152" y="1325880"/>
            <a:ext cx="9144" cy="3977639"/>
          </a:xfrm>
          <a:prstGeom prst="line">
            <a:avLst/>
          </a:prstGeom>
          <a:ln w="10000">
            <a:solidFill>
              <a:srgbClr val="CBD5E1"/>
            </a:solidFill>
          </a:ln>
        </p:spPr>
      </p:cxnSp>
      <p:cxnSp>
        <p:nvCxnSpPr>
          <p:cNvPr id="28" name="Arrow 28"/>
          <p:cNvCxnSpPr/>
          <p:nvPr/>
        </p:nvCxnSpPr>
        <p:spPr>
          <a:xfrm>
            <a:off x="1078992" y="1600200"/>
            <a:ext cx="1508760" cy="9144"/>
          </a:xfrm>
          <a:prstGeom prst="line">
            <a:avLst/>
          </a:prstGeom>
          <a:ln w="16000">
            <a:solidFill>
              <a:srgbClr val="0284C7"/>
            </a:solidFill>
            <a:tailEnd type="triangle" w="med" len="med"/>
          </a:ln>
        </p:spPr>
      </p:cxnSp>
      <p:sp>
        <p:nvSpPr>
          <p:cNvPr id="29" name="Text 29"/>
          <p:cNvSpPr txBox="1"/>
          <p:nvPr/>
        </p:nvSpPr>
        <p:spPr>
          <a:xfrm>
            <a:off x="731520" y="1389888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0284C7"/>
                </a:solidFill>
                <a:latin typeface="Malgun Gothic"/>
                <a:ea typeface="Malgun Gothic"/>
              </a:rPr>
              <a:t>1. 입력/버튼 클릭</a:t>
            </a:r>
          </a:p>
        </p:txBody>
      </p:sp>
      <p:cxnSp>
        <p:nvCxnSpPr>
          <p:cNvPr id="30" name="Arrow 30"/>
          <p:cNvCxnSpPr/>
          <p:nvPr/>
        </p:nvCxnSpPr>
        <p:spPr>
          <a:xfrm>
            <a:off x="2587752" y="1965960"/>
            <a:ext cx="1554480" cy="9144"/>
          </a:xfrm>
          <a:prstGeom prst="line">
            <a:avLst/>
          </a:prstGeom>
          <a:ln w="16000">
            <a:solidFill>
              <a:srgbClr val="0284C7"/>
            </a:solidFill>
            <a:tailEnd type="triangle" w="med" len="med"/>
          </a:ln>
        </p:spPr>
      </p:cxnSp>
      <p:sp>
        <p:nvSpPr>
          <p:cNvPr id="31" name="Text 31"/>
          <p:cNvSpPr txBox="1"/>
          <p:nvPr/>
        </p:nvSpPr>
        <p:spPr>
          <a:xfrm>
            <a:off x="2240280" y="175564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0284C7"/>
                </a:solidFill>
                <a:latin typeface="Malgun Gothic"/>
                <a:ea typeface="Malgun Gothic"/>
              </a:rPr>
              <a:t>2. Data /fetch</a:t>
            </a:r>
          </a:p>
        </p:txBody>
      </p:sp>
      <p:cxnSp>
        <p:nvCxnSpPr>
          <p:cNvPr id="32" name="Arrow 32"/>
          <p:cNvCxnSpPr/>
          <p:nvPr/>
        </p:nvCxnSpPr>
        <p:spPr>
          <a:xfrm>
            <a:off x="4142232" y="2331720"/>
            <a:ext cx="1554480" cy="9144"/>
          </a:xfrm>
          <a:prstGeom prst="line">
            <a:avLst/>
          </a:prstGeom>
          <a:ln w="16000">
            <a:solidFill>
              <a:srgbClr val="0284C7"/>
            </a:solidFill>
            <a:tailEnd type="triangle" w="med" len="med"/>
          </a:ln>
        </p:spPr>
      </p:cxnSp>
      <p:sp>
        <p:nvSpPr>
          <p:cNvPr id="33" name="Text 33"/>
          <p:cNvSpPr txBox="1"/>
          <p:nvPr/>
        </p:nvSpPr>
        <p:spPr>
          <a:xfrm>
            <a:off x="3794760" y="212140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0284C7"/>
                </a:solidFill>
                <a:latin typeface="Malgun Gothic"/>
                <a:ea typeface="Malgun Gothic"/>
              </a:rPr>
              <a:t>3. CSV -&gt; tables</a:t>
            </a:r>
          </a:p>
        </p:txBody>
      </p:sp>
      <p:cxnSp>
        <p:nvCxnSpPr>
          <p:cNvPr id="34" name="Arrow 34"/>
          <p:cNvCxnSpPr/>
          <p:nvPr/>
        </p:nvCxnSpPr>
        <p:spPr>
          <a:xfrm>
            <a:off x="2587752" y="2743200"/>
            <a:ext cx="4663440" cy="9144"/>
          </a:xfrm>
          <a:prstGeom prst="line">
            <a:avLst/>
          </a:prstGeom>
          <a:ln w="16000">
            <a:solidFill>
              <a:srgbClr val="DB2777"/>
            </a:solidFill>
            <a:tailEnd type="triangle" w="med" len="med"/>
          </a:ln>
        </p:spPr>
      </p:cxnSp>
      <p:sp>
        <p:nvSpPr>
          <p:cNvPr id="35" name="Text 35"/>
          <p:cNvSpPr txBox="1"/>
          <p:nvPr/>
        </p:nvSpPr>
        <p:spPr>
          <a:xfrm>
            <a:off x="2240280" y="2532888"/>
            <a:ext cx="5394959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DB2777"/>
                </a:solidFill>
                <a:latin typeface="Malgun Gothic"/>
                <a:ea typeface="Malgun Gothic"/>
              </a:rPr>
              <a:t>4. AI /predict(uid)</a:t>
            </a:r>
          </a:p>
        </p:txBody>
      </p:sp>
      <p:cxnSp>
        <p:nvCxnSpPr>
          <p:cNvPr id="36" name="Arrow 36"/>
          <p:cNvCxnSpPr/>
          <p:nvPr/>
        </p:nvCxnSpPr>
        <p:spPr>
          <a:xfrm flipH="1">
            <a:off x="5696712" y="3108960"/>
            <a:ext cx="1554479" cy="9144"/>
          </a:xfrm>
          <a:prstGeom prst="line">
            <a:avLst/>
          </a:prstGeom>
          <a:ln w="16000">
            <a:solidFill>
              <a:srgbClr val="2563EB"/>
            </a:solidFill>
            <a:tailEnd type="triangle" w="med" len="med"/>
          </a:ln>
        </p:spPr>
      </p:cxnSp>
      <p:sp>
        <p:nvSpPr>
          <p:cNvPr id="37" name="Text 37"/>
          <p:cNvSpPr txBox="1"/>
          <p:nvPr/>
        </p:nvSpPr>
        <p:spPr>
          <a:xfrm>
            <a:off x="5349240" y="2898648"/>
            <a:ext cx="2285999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2563EB"/>
                </a:solidFill>
                <a:latin typeface="Malgun Gothic"/>
                <a:ea typeface="Malgun Gothic"/>
              </a:rPr>
              <a:t>5. 생체/피드백 조회</a:t>
            </a:r>
          </a:p>
        </p:txBody>
      </p:sp>
      <p:cxnSp>
        <p:nvCxnSpPr>
          <p:cNvPr id="38" name="Arrow 38"/>
          <p:cNvCxnSpPr/>
          <p:nvPr/>
        </p:nvCxnSpPr>
        <p:spPr>
          <a:xfrm>
            <a:off x="7251192" y="3474720"/>
            <a:ext cx="1554480" cy="9144"/>
          </a:xfrm>
          <a:prstGeom prst="line">
            <a:avLst/>
          </a:prstGeom>
          <a:ln w="16000">
            <a:solidFill>
              <a:srgbClr val="7C3AED"/>
            </a:solidFill>
            <a:tailEnd type="triangle" w="med" len="med"/>
          </a:ln>
        </p:spPr>
      </p:cxnSp>
      <p:sp>
        <p:nvSpPr>
          <p:cNvPr id="39" name="Text 39"/>
          <p:cNvSpPr txBox="1"/>
          <p:nvPr/>
        </p:nvSpPr>
        <p:spPr>
          <a:xfrm>
            <a:off x="6903720" y="3264408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7C3AED"/>
                </a:solidFill>
                <a:latin typeface="Malgun Gothic"/>
                <a:ea typeface="Malgun Gothic"/>
              </a:rPr>
              <a:t>6. prompt -&gt; LLM</a:t>
            </a:r>
          </a:p>
        </p:txBody>
      </p:sp>
      <p:cxnSp>
        <p:nvCxnSpPr>
          <p:cNvPr id="40" name="Arrow 40"/>
          <p:cNvCxnSpPr/>
          <p:nvPr/>
        </p:nvCxnSpPr>
        <p:spPr>
          <a:xfrm flipH="1">
            <a:off x="5696712" y="3840480"/>
            <a:ext cx="1554479" cy="9144"/>
          </a:xfrm>
          <a:prstGeom prst="line">
            <a:avLst/>
          </a:prstGeom>
          <a:ln w="16000">
            <a:solidFill>
              <a:srgbClr val="DB2777"/>
            </a:solidFill>
            <a:tailEnd type="triangle" w="med" len="med"/>
          </a:ln>
        </p:spPr>
      </p:cxnSp>
      <p:sp>
        <p:nvSpPr>
          <p:cNvPr id="41" name="Text 41"/>
          <p:cNvSpPr txBox="1"/>
          <p:nvPr/>
        </p:nvSpPr>
        <p:spPr>
          <a:xfrm>
            <a:off x="5349240" y="3630168"/>
            <a:ext cx="2285999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DB2777"/>
                </a:solidFill>
                <a:latin typeface="Malgun Gothic"/>
                <a:ea typeface="Malgun Gothic"/>
              </a:rPr>
              <a:t>7. predictions 저장</a:t>
            </a:r>
          </a:p>
        </p:txBody>
      </p:sp>
      <p:cxnSp>
        <p:nvCxnSpPr>
          <p:cNvPr id="42" name="Arrow 42"/>
          <p:cNvCxnSpPr/>
          <p:nvPr/>
        </p:nvCxnSpPr>
        <p:spPr>
          <a:xfrm>
            <a:off x="2587752" y="4206240"/>
            <a:ext cx="7772400" cy="9144"/>
          </a:xfrm>
          <a:prstGeom prst="line">
            <a:avLst/>
          </a:prstGeom>
          <a:ln w="16000">
            <a:solidFill>
              <a:srgbClr val="D97706"/>
            </a:solidFill>
            <a:tailEnd type="triangle" w="med" len="med"/>
          </a:ln>
        </p:spPr>
      </p:cxnSp>
      <p:sp>
        <p:nvSpPr>
          <p:cNvPr id="43" name="Text 43"/>
          <p:cNvSpPr txBox="1"/>
          <p:nvPr/>
        </p:nvSpPr>
        <p:spPr>
          <a:xfrm>
            <a:off x="2240280" y="3995927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D97706"/>
                </a:solidFill>
                <a:latin typeface="Malgun Gothic"/>
                <a:ea typeface="Malgun Gothic"/>
              </a:rPr>
              <a:t>8. Group /predict</a:t>
            </a:r>
          </a:p>
        </p:txBody>
      </p:sp>
      <p:cxnSp>
        <p:nvCxnSpPr>
          <p:cNvPr id="44" name="Arrow 44"/>
          <p:cNvCxnSpPr/>
          <p:nvPr/>
        </p:nvCxnSpPr>
        <p:spPr>
          <a:xfrm flipH="1">
            <a:off x="5696712" y="4572000"/>
            <a:ext cx="4663440" cy="9144"/>
          </a:xfrm>
          <a:prstGeom prst="line">
            <a:avLst/>
          </a:prstGeom>
          <a:ln w="16000">
            <a:solidFill>
              <a:srgbClr val="D97706"/>
            </a:solidFill>
            <a:tailEnd type="triangle" w="med" len="med"/>
          </a:ln>
        </p:spPr>
      </p:cxnSp>
      <p:sp>
        <p:nvSpPr>
          <p:cNvPr id="45" name="Text 45"/>
          <p:cNvSpPr txBox="1"/>
          <p:nvPr/>
        </p:nvSpPr>
        <p:spPr>
          <a:xfrm>
            <a:off x="5349240" y="4361688"/>
            <a:ext cx="5394959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D97706"/>
                </a:solidFill>
                <a:latin typeface="Malgun Gothic"/>
                <a:ea typeface="Malgun Gothic"/>
              </a:rPr>
              <a:t>9. slots/groups 조회</a:t>
            </a:r>
          </a:p>
        </p:txBody>
      </p:sp>
      <p:cxnSp>
        <p:nvCxnSpPr>
          <p:cNvPr id="46" name="Arrow 46"/>
          <p:cNvCxnSpPr/>
          <p:nvPr/>
        </p:nvCxnSpPr>
        <p:spPr>
          <a:xfrm flipH="1">
            <a:off x="1078992" y="4937760"/>
            <a:ext cx="1508760" cy="9144"/>
          </a:xfrm>
          <a:prstGeom prst="line">
            <a:avLst/>
          </a:prstGeom>
          <a:ln w="16000">
            <a:solidFill>
              <a:srgbClr val="16A34A"/>
            </a:solidFill>
            <a:tailEnd type="triangle" w="med" len="med"/>
          </a:ln>
        </p:spPr>
      </p:cxnSp>
      <p:sp>
        <p:nvSpPr>
          <p:cNvPr id="47" name="Text 47"/>
          <p:cNvSpPr txBox="1"/>
          <p:nvPr/>
        </p:nvSpPr>
        <p:spPr>
          <a:xfrm>
            <a:off x="731520" y="4727448"/>
            <a:ext cx="224028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20" b="1">
                <a:solidFill>
                  <a:srgbClr val="16A34A"/>
                </a:solidFill>
                <a:latin typeface="Malgun Gothic"/>
                <a:ea typeface="Malgun Gothic"/>
              </a:rPr>
              <a:t>10. 코칭/추천 표시</a:t>
            </a:r>
          </a:p>
        </p:txBody>
      </p:sp>
      <p:sp>
        <p:nvSpPr>
          <p:cNvPr id="48" name="Text 48"/>
          <p:cNvSpPr txBox="1"/>
          <p:nvPr/>
        </p:nvSpPr>
        <p:spPr>
          <a:xfrm>
            <a:off x="685800" y="553212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150" b="1">
                <a:solidFill>
                  <a:srgbClr val="334155"/>
                </a:solidFill>
                <a:latin typeface="Malgun Gothic"/>
                <a:ea typeface="Malgun Gothic"/>
              </a:rPr>
              <a:t>읽는 법: 가로 화살표는 API 요청 순서, 세로 점선은 각 서비스의 생명선(lifeline)을 의미한다.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11"/>
          <p:cNvSpPr txBox="1"/>
          <p:nvPr/>
        </p:nvSpPr>
        <p:spPr>
          <a:xfrm>
            <a:off x="411480" y="20116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ko-KR" sz="2450" b="1">
                <a:solidFill>
                  <a:srgbClr val="0F172A"/>
                </a:solidFill>
                <a:latin typeface="Malgun Gothic"/>
                <a:ea typeface="Malgun Gothic"/>
              </a:rPr>
              <a:t>Communication Methods Between Components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438912" y="621792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l"/>
            <a:r>
              <a:rPr lang="ko-KR" sz="1100">
                <a:solidFill>
                  <a:srgbClr val="475569"/>
                </a:solidFill>
                <a:latin typeface="Malgun Gothic"/>
                <a:ea typeface="Malgun Gothic"/>
              </a:rPr>
              <a:t>각 아키텍처 요소가 어떤 프로토콜, 라이브러리, 데이터 형식으로 통신하는지 정리</a:t>
            </a:r>
          </a:p>
        </p:txBody>
      </p:sp>
      <p:sp>
        <p:nvSpPr>
          <p:cNvPr id="13" name="Box 13"/>
          <p:cNvSpPr/>
          <p:nvPr/>
        </p:nvSpPr>
        <p:spPr>
          <a:xfrm>
            <a:off x="10287000" y="228600"/>
            <a:ext cx="1143000" cy="320040"/>
          </a:xfrm>
          <a:prstGeom prst="roundRect">
            <a:avLst/>
          </a:prstGeom>
          <a:solidFill>
            <a:srgbClr val="0F766E"/>
          </a:solidFill>
          <a:ln w="15240">
            <a:solidFill>
              <a:srgbClr val="0F766E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1000" b="1">
                <a:solidFill>
                  <a:srgbClr val="FFFFFF"/>
                </a:solidFill>
                <a:latin typeface="Malgun Gothic"/>
                <a:ea typeface="Malgun Gothic"/>
              </a:rPr>
              <a:t>BioFit</a:t>
            </a:r>
          </a:p>
        </p:txBody>
      </p:sp>
      <p:sp>
        <p:nvSpPr>
          <p:cNvPr id="14" name="Box 14"/>
          <p:cNvSpPr/>
          <p:nvPr/>
        </p:nvSpPr>
        <p:spPr>
          <a:xfrm>
            <a:off x="502920" y="1188720"/>
            <a:ext cx="1325880" cy="50292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0284C7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Browser</a:t>
            </a:r>
          </a:p>
        </p:txBody>
      </p:sp>
      <p:sp>
        <p:nvSpPr>
          <p:cNvPr id="15" name="Box 15"/>
          <p:cNvSpPr/>
          <p:nvPr/>
        </p:nvSpPr>
        <p:spPr>
          <a:xfrm>
            <a:off x="2331720" y="1188720"/>
            <a:ext cx="1508760" cy="5029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Streamlit UI</a:t>
            </a:r>
          </a:p>
        </p:txBody>
      </p:sp>
      <p:sp>
        <p:nvSpPr>
          <p:cNvPr id="16" name="Box 16"/>
          <p:cNvSpPr/>
          <p:nvPr/>
        </p:nvSpPr>
        <p:spPr>
          <a:xfrm>
            <a:off x="4572000" y="914400"/>
            <a:ext cx="1508760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Data API</a:t>
            </a:r>
          </a:p>
        </p:txBody>
      </p:sp>
      <p:sp>
        <p:nvSpPr>
          <p:cNvPr id="17" name="Box 17"/>
          <p:cNvSpPr/>
          <p:nvPr/>
        </p:nvSpPr>
        <p:spPr>
          <a:xfrm>
            <a:off x="4572000" y="1508760"/>
            <a:ext cx="1508760" cy="438912"/>
          </a:xfrm>
          <a:prstGeom prst="roundRect">
            <a:avLst/>
          </a:prstGeom>
          <a:solidFill>
            <a:srgbClr val="FCE7F3"/>
          </a:solidFill>
          <a:ln w="15240">
            <a:solidFill>
              <a:srgbClr val="DB2777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AI API</a:t>
            </a:r>
          </a:p>
        </p:txBody>
      </p:sp>
      <p:sp>
        <p:nvSpPr>
          <p:cNvPr id="18" name="Box 18"/>
          <p:cNvSpPr/>
          <p:nvPr/>
        </p:nvSpPr>
        <p:spPr>
          <a:xfrm>
            <a:off x="4572000" y="2103120"/>
            <a:ext cx="1508760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Feedback API</a:t>
            </a:r>
          </a:p>
        </p:txBody>
      </p:sp>
      <p:sp>
        <p:nvSpPr>
          <p:cNvPr id="19" name="Box 19"/>
          <p:cNvSpPr/>
          <p:nvPr/>
        </p:nvSpPr>
        <p:spPr>
          <a:xfrm>
            <a:off x="4572000" y="2697480"/>
            <a:ext cx="1508760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Group API</a:t>
            </a:r>
          </a:p>
        </p:txBody>
      </p:sp>
      <p:sp>
        <p:nvSpPr>
          <p:cNvPr id="20" name="Box 20"/>
          <p:cNvSpPr/>
          <p:nvPr/>
        </p:nvSpPr>
        <p:spPr>
          <a:xfrm>
            <a:off x="6812280" y="1783080"/>
            <a:ext cx="1508760" cy="59436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PostgreSQL</a:t>
            </a:r>
          </a:p>
        </p:txBody>
      </p:sp>
      <p:sp>
        <p:nvSpPr>
          <p:cNvPr id="21" name="Box 21"/>
          <p:cNvSpPr/>
          <p:nvPr/>
        </p:nvSpPr>
        <p:spPr>
          <a:xfrm>
            <a:off x="9144000" y="914400"/>
            <a:ext cx="160020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Fitbit API</a:t>
            </a:r>
          </a:p>
        </p:txBody>
      </p:sp>
      <p:sp>
        <p:nvSpPr>
          <p:cNvPr id="22" name="Box 22"/>
          <p:cNvSpPr/>
          <p:nvPr/>
        </p:nvSpPr>
        <p:spPr>
          <a:xfrm>
            <a:off x="9144000" y="1572768"/>
            <a:ext cx="1600200" cy="4389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748B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900" b="1">
                <a:solidFill>
                  <a:srgbClr val="111827"/>
                </a:solidFill>
                <a:latin typeface="Malgun Gothic"/>
                <a:ea typeface="Malgun Gothic"/>
              </a:rPr>
              <a:t>vLLM API</a:t>
            </a:r>
          </a:p>
        </p:txBody>
      </p:sp>
      <p:cxnSp>
        <p:nvCxnSpPr>
          <p:cNvPr id="23" name="Line 23"/>
          <p:cNvCxnSpPr/>
          <p:nvPr/>
        </p:nvCxnSpPr>
        <p:spPr>
          <a:xfrm>
            <a:off x="1828800" y="1444752"/>
            <a:ext cx="502919" cy="9144"/>
          </a:xfrm>
          <a:prstGeom prst="line">
            <a:avLst/>
          </a:prstGeom>
          <a:ln w="16000">
            <a:solidFill>
              <a:srgbClr val="0284C7"/>
            </a:solidFill>
            <a:tailEnd type="triangle" w="med" len="med"/>
          </a:ln>
        </p:spPr>
      </p:cxnSp>
      <p:sp>
        <p:nvSpPr>
          <p:cNvPr id="24" name="Text 24"/>
          <p:cNvSpPr txBox="1"/>
          <p:nvPr/>
        </p:nvSpPr>
        <p:spPr>
          <a:xfrm>
            <a:off x="1847088" y="1078992"/>
            <a:ext cx="502920" cy="16459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650" b="1">
                <a:solidFill>
                  <a:srgbClr val="0284C7"/>
                </a:solidFill>
                <a:latin typeface="Malgun Gothic"/>
                <a:ea typeface="Malgun Gothic"/>
              </a:rPr>
              <a:t>HTTP</a:t>
            </a:r>
          </a:p>
        </p:txBody>
      </p:sp>
      <p:cxnSp>
        <p:nvCxnSpPr>
          <p:cNvPr id="25" name="Line 25"/>
          <p:cNvCxnSpPr/>
          <p:nvPr/>
        </p:nvCxnSpPr>
        <p:spPr>
          <a:xfrm flipV="1">
            <a:off x="3840480" y="1143000"/>
            <a:ext cx="731519" cy="301752"/>
          </a:xfrm>
          <a:prstGeom prst="line">
            <a:avLst/>
          </a:prstGeom>
          <a:ln w="16000">
            <a:solidFill>
              <a:srgbClr val="16A34A"/>
            </a:solidFill>
            <a:tailEnd type="triangle" w="med" len="med"/>
          </a:ln>
        </p:spPr>
      </p:cxnSp>
      <p:cxnSp>
        <p:nvCxnSpPr>
          <p:cNvPr id="26" name="Line 26"/>
          <p:cNvCxnSpPr/>
          <p:nvPr/>
        </p:nvCxnSpPr>
        <p:spPr>
          <a:xfrm>
            <a:off x="3840480" y="1444752"/>
            <a:ext cx="731519" cy="292607"/>
          </a:xfrm>
          <a:prstGeom prst="line">
            <a:avLst/>
          </a:prstGeom>
          <a:ln w="16000">
            <a:solidFill>
              <a:srgbClr val="16A34A"/>
            </a:solidFill>
            <a:tailEnd type="triangle" w="med" len="med"/>
          </a:ln>
        </p:spPr>
      </p:cxnSp>
      <p:cxnSp>
        <p:nvCxnSpPr>
          <p:cNvPr id="27" name="Line 27"/>
          <p:cNvCxnSpPr/>
          <p:nvPr/>
        </p:nvCxnSpPr>
        <p:spPr>
          <a:xfrm>
            <a:off x="3840480" y="1444752"/>
            <a:ext cx="731519" cy="886967"/>
          </a:xfrm>
          <a:prstGeom prst="line">
            <a:avLst/>
          </a:prstGeom>
          <a:ln w="16000">
            <a:solidFill>
              <a:srgbClr val="16A34A"/>
            </a:solidFill>
            <a:tailEnd type="triangle" w="med" len="med"/>
          </a:ln>
        </p:spPr>
      </p:cxnSp>
      <p:cxnSp>
        <p:nvCxnSpPr>
          <p:cNvPr id="28" name="Line 28"/>
          <p:cNvCxnSpPr/>
          <p:nvPr/>
        </p:nvCxnSpPr>
        <p:spPr>
          <a:xfrm>
            <a:off x="3840480" y="1444752"/>
            <a:ext cx="731519" cy="1481328"/>
          </a:xfrm>
          <a:prstGeom prst="line">
            <a:avLst/>
          </a:prstGeom>
          <a:ln w="16000">
            <a:solidFill>
              <a:srgbClr val="16A34A"/>
            </a:solidFill>
            <a:tailEnd type="triangle" w="med" len="med"/>
          </a:ln>
        </p:spPr>
      </p:cxnSp>
      <p:sp>
        <p:nvSpPr>
          <p:cNvPr id="29" name="Text 29"/>
          <p:cNvSpPr txBox="1"/>
          <p:nvPr/>
        </p:nvSpPr>
        <p:spPr>
          <a:xfrm>
            <a:off x="3886200" y="713232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650" b="1">
                <a:solidFill>
                  <a:srgbClr val="16A34A"/>
                </a:solidFill>
                <a:latin typeface="Malgun Gothic"/>
                <a:ea typeface="Malgun Gothic"/>
              </a:rPr>
              <a:t>requests.post(JSON)</a:t>
            </a:r>
          </a:p>
        </p:txBody>
      </p:sp>
      <p:cxnSp>
        <p:nvCxnSpPr>
          <p:cNvPr id="30" name="Line 30"/>
          <p:cNvCxnSpPr/>
          <p:nvPr/>
        </p:nvCxnSpPr>
        <p:spPr>
          <a:xfrm>
            <a:off x="6080760" y="1143000"/>
            <a:ext cx="731519" cy="932688"/>
          </a:xfrm>
          <a:prstGeom prst="line">
            <a:avLst/>
          </a:prstGeom>
          <a:ln w="16000">
            <a:solidFill>
              <a:srgbClr val="2563EB"/>
            </a:solidFill>
            <a:tailEnd type="triangle" w="med" len="med"/>
          </a:ln>
        </p:spPr>
      </p:cxnSp>
      <p:cxnSp>
        <p:nvCxnSpPr>
          <p:cNvPr id="31" name="Line 31"/>
          <p:cNvCxnSpPr/>
          <p:nvPr/>
        </p:nvCxnSpPr>
        <p:spPr>
          <a:xfrm>
            <a:off x="6080760" y="1737360"/>
            <a:ext cx="731519" cy="338328"/>
          </a:xfrm>
          <a:prstGeom prst="line">
            <a:avLst/>
          </a:prstGeom>
          <a:ln w="16000">
            <a:solidFill>
              <a:srgbClr val="2563EB"/>
            </a:solidFill>
            <a:tailEnd type="triangle" w="med" len="med"/>
          </a:ln>
        </p:spPr>
      </p:cxnSp>
      <p:cxnSp>
        <p:nvCxnSpPr>
          <p:cNvPr id="32" name="Line 32"/>
          <p:cNvCxnSpPr/>
          <p:nvPr/>
        </p:nvCxnSpPr>
        <p:spPr>
          <a:xfrm flipV="1">
            <a:off x="6080760" y="2075688"/>
            <a:ext cx="731519" cy="256031"/>
          </a:xfrm>
          <a:prstGeom prst="line">
            <a:avLst/>
          </a:prstGeom>
          <a:ln w="16000">
            <a:solidFill>
              <a:srgbClr val="2563EB"/>
            </a:solidFill>
            <a:tailEnd type="triangle" w="med" len="med"/>
          </a:ln>
        </p:spPr>
      </p:cxnSp>
      <p:cxnSp>
        <p:nvCxnSpPr>
          <p:cNvPr id="33" name="Line 33"/>
          <p:cNvCxnSpPr/>
          <p:nvPr/>
        </p:nvCxnSpPr>
        <p:spPr>
          <a:xfrm flipV="1">
            <a:off x="6080760" y="2075688"/>
            <a:ext cx="731519" cy="850392"/>
          </a:xfrm>
          <a:prstGeom prst="line">
            <a:avLst/>
          </a:prstGeom>
          <a:ln w="16000">
            <a:solidFill>
              <a:srgbClr val="2563EB"/>
            </a:solidFill>
            <a:tailEnd type="triangle" w="med" len="med"/>
          </a:ln>
        </p:spPr>
      </p:cxnSp>
      <p:sp>
        <p:nvSpPr>
          <p:cNvPr id="34" name="Text 34"/>
          <p:cNvSpPr txBox="1"/>
          <p:nvPr/>
        </p:nvSpPr>
        <p:spPr>
          <a:xfrm>
            <a:off x="6172200" y="32461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700" b="1">
                <a:solidFill>
                  <a:srgbClr val="2563EB"/>
                </a:solidFill>
                <a:latin typeface="Malgun Gothic"/>
                <a:ea typeface="Malgun Gothic"/>
              </a:rPr>
              <a:t>SQL / TCP 5432</a:t>
            </a:r>
          </a:p>
        </p:txBody>
      </p:sp>
      <p:cxnSp>
        <p:nvCxnSpPr>
          <p:cNvPr id="35" name="Line 35"/>
          <p:cNvCxnSpPr/>
          <p:nvPr/>
        </p:nvCxnSpPr>
        <p:spPr>
          <a:xfrm flipV="1">
            <a:off x="6080760" y="1133856"/>
            <a:ext cx="3063239" cy="9144"/>
          </a:xfrm>
          <a:prstGeom prst="line">
            <a:avLst/>
          </a:prstGeom>
          <a:ln w="16000">
            <a:solidFill>
              <a:srgbClr val="64748B"/>
            </a:solidFill>
            <a:tailEnd type="triangle" w="med" len="med"/>
          </a:ln>
        </p:spPr>
      </p:cxnSp>
      <p:sp>
        <p:nvSpPr>
          <p:cNvPr id="36" name="Text 36"/>
          <p:cNvSpPr txBox="1"/>
          <p:nvPr/>
        </p:nvSpPr>
        <p:spPr>
          <a:xfrm>
            <a:off x="6949440" y="78638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650" b="1">
                <a:solidFill>
                  <a:srgbClr val="64748B"/>
                </a:solidFill>
                <a:latin typeface="Malgun Gothic"/>
                <a:ea typeface="Malgun Gothic"/>
              </a:rPr>
              <a:t>requests.get + Bearer token</a:t>
            </a:r>
          </a:p>
        </p:txBody>
      </p:sp>
      <p:cxnSp>
        <p:nvCxnSpPr>
          <p:cNvPr id="37" name="Line 37"/>
          <p:cNvCxnSpPr/>
          <p:nvPr/>
        </p:nvCxnSpPr>
        <p:spPr>
          <a:xfrm>
            <a:off x="6080760" y="1737360"/>
            <a:ext cx="3063239" cy="54864"/>
          </a:xfrm>
          <a:prstGeom prst="line">
            <a:avLst/>
          </a:prstGeom>
          <a:ln w="16000">
            <a:solidFill>
              <a:srgbClr val="7C3AED"/>
            </a:solidFill>
            <a:tailEnd type="triangle" w="med" len="med"/>
          </a:ln>
        </p:spPr>
      </p:cxnSp>
      <p:sp>
        <p:nvSpPr>
          <p:cNvPr id="38" name="Text 38"/>
          <p:cNvSpPr txBox="1"/>
          <p:nvPr/>
        </p:nvSpPr>
        <p:spPr>
          <a:xfrm>
            <a:off x="7040880" y="1426464"/>
            <a:ext cx="12801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650" b="1">
                <a:solidFill>
                  <a:srgbClr val="7C3AED"/>
                </a:solidFill>
                <a:latin typeface="Malgun Gothic"/>
                <a:ea typeface="Malgun Gothic"/>
              </a:rPr>
              <a:t>OpenAI-compatible JSON</a:t>
            </a:r>
          </a:p>
        </p:txBody>
      </p:sp>
      <p:sp>
        <p:nvSpPr>
          <p:cNvPr id="39" name="Box 39"/>
          <p:cNvSpPr/>
          <p:nvPr/>
        </p:nvSpPr>
        <p:spPr>
          <a:xfrm>
            <a:off x="502920" y="3703320"/>
            <a:ext cx="2377440" cy="365760"/>
          </a:xfrm>
          <a:prstGeom prst="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780" b="1">
                <a:solidFill>
                  <a:srgbClr val="FFFFFF"/>
                </a:solidFill>
                <a:latin typeface="Malgun Gothic"/>
                <a:ea typeface="Malgun Gothic"/>
              </a:rPr>
              <a:t>통신 구간</a:t>
            </a:r>
          </a:p>
        </p:txBody>
      </p:sp>
      <p:sp>
        <p:nvSpPr>
          <p:cNvPr id="40" name="Box 40"/>
          <p:cNvSpPr/>
          <p:nvPr/>
        </p:nvSpPr>
        <p:spPr>
          <a:xfrm>
            <a:off x="2880360" y="3703320"/>
            <a:ext cx="2194560" cy="365760"/>
          </a:xfrm>
          <a:prstGeom prst="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780" b="1">
                <a:solidFill>
                  <a:srgbClr val="FFFFFF"/>
                </a:solidFill>
                <a:latin typeface="Malgun Gothic"/>
                <a:ea typeface="Malgun Gothic"/>
              </a:rPr>
              <a:t>방법 / 도구</a:t>
            </a:r>
          </a:p>
        </p:txBody>
      </p:sp>
      <p:sp>
        <p:nvSpPr>
          <p:cNvPr id="41" name="Box 41"/>
          <p:cNvSpPr/>
          <p:nvPr/>
        </p:nvSpPr>
        <p:spPr>
          <a:xfrm>
            <a:off x="5074920" y="3703320"/>
            <a:ext cx="2240280" cy="365760"/>
          </a:xfrm>
          <a:prstGeom prst="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780" b="1">
                <a:solidFill>
                  <a:srgbClr val="FFFFFF"/>
                </a:solidFill>
                <a:latin typeface="Malgun Gothic"/>
                <a:ea typeface="Malgun Gothic"/>
              </a:rPr>
              <a:t>데이터 형식</a:t>
            </a:r>
          </a:p>
        </p:txBody>
      </p:sp>
      <p:sp>
        <p:nvSpPr>
          <p:cNvPr id="42" name="Box 42"/>
          <p:cNvSpPr/>
          <p:nvPr/>
        </p:nvSpPr>
        <p:spPr>
          <a:xfrm>
            <a:off x="7315200" y="3703320"/>
            <a:ext cx="3703320" cy="365760"/>
          </a:xfrm>
          <a:prstGeom prst="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txBody>
          <a:bodyPr wrap="square" anchor="mid" lIns="73152" rIns="73152">
            <a:spAutoFit/>
          </a:bodyPr>
          <a:lstStyle/>
          <a:p>
            <a:pPr algn="ctr"/>
            <a:r>
              <a:rPr lang="ko-KR" sz="780" b="1">
                <a:solidFill>
                  <a:srgbClr val="FFFFFF"/>
                </a:solidFill>
                <a:latin typeface="Malgun Gothic"/>
                <a:ea typeface="Malgun Gothic"/>
              </a:rPr>
              <a:t>현재 코드 근거</a:t>
            </a:r>
          </a:p>
        </p:txBody>
      </p:sp>
      <p:sp>
        <p:nvSpPr>
          <p:cNvPr id="43" name="Box 43"/>
          <p:cNvSpPr/>
          <p:nvPr/>
        </p:nvSpPr>
        <p:spPr>
          <a:xfrm>
            <a:off x="502920" y="4069080"/>
            <a:ext cx="2377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Browser -&gt; Streamlit</a:t>
            </a:r>
          </a:p>
        </p:txBody>
      </p:sp>
      <p:sp>
        <p:nvSpPr>
          <p:cNvPr id="44" name="Box 44"/>
          <p:cNvSpPr/>
          <p:nvPr/>
        </p:nvSpPr>
        <p:spPr>
          <a:xfrm>
            <a:off x="2880360" y="4069080"/>
            <a:ext cx="21945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HTTP 웹 접속</a:t>
            </a:r>
          </a:p>
        </p:txBody>
      </p:sp>
      <p:sp>
        <p:nvSpPr>
          <p:cNvPr id="45" name="Box 45"/>
          <p:cNvSpPr/>
          <p:nvPr/>
        </p:nvSpPr>
        <p:spPr>
          <a:xfrm>
            <a:off x="5074920" y="4069080"/>
            <a:ext cx="224028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HTML UI</a:t>
            </a:r>
          </a:p>
        </p:txBody>
      </p:sp>
      <p:sp>
        <p:nvSpPr>
          <p:cNvPr id="46" name="Box 46"/>
          <p:cNvSpPr/>
          <p:nvPr/>
        </p:nvSpPr>
        <p:spPr>
          <a:xfrm>
            <a:off x="7315200" y="4069080"/>
            <a:ext cx="37033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streamlit run :8501/:8502</a:t>
            </a:r>
          </a:p>
        </p:txBody>
      </p:sp>
      <p:sp>
        <p:nvSpPr>
          <p:cNvPr id="47" name="Box 47"/>
          <p:cNvSpPr/>
          <p:nvPr/>
        </p:nvSpPr>
        <p:spPr>
          <a:xfrm>
            <a:off x="502920" y="4453128"/>
            <a:ext cx="237744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Streamlit -&gt; APIs</a:t>
            </a:r>
          </a:p>
        </p:txBody>
      </p:sp>
      <p:sp>
        <p:nvSpPr>
          <p:cNvPr id="48" name="Box 48"/>
          <p:cNvSpPr/>
          <p:nvPr/>
        </p:nvSpPr>
        <p:spPr>
          <a:xfrm>
            <a:off x="2880360" y="4453128"/>
            <a:ext cx="219456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requests.post</a:t>
            </a:r>
          </a:p>
        </p:txBody>
      </p:sp>
      <p:sp>
        <p:nvSpPr>
          <p:cNvPr id="49" name="Box 49"/>
          <p:cNvSpPr/>
          <p:nvPr/>
        </p:nvSpPr>
        <p:spPr>
          <a:xfrm>
            <a:off x="5074920" y="4453128"/>
            <a:ext cx="224028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JSON body / response</a:t>
            </a:r>
          </a:p>
        </p:txBody>
      </p:sp>
      <p:sp>
        <p:nvSpPr>
          <p:cNvPr id="50" name="Box 50"/>
          <p:cNvSpPr/>
          <p:nvPr/>
        </p:nvSpPr>
        <p:spPr>
          <a:xfrm>
            <a:off x="7315200" y="4453128"/>
            <a:ext cx="370332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DATA_SERVICE_URL, AI_URL, GROUP_URL</a:t>
            </a:r>
          </a:p>
        </p:txBody>
      </p:sp>
      <p:sp>
        <p:nvSpPr>
          <p:cNvPr id="51" name="Box 51"/>
          <p:cNvSpPr/>
          <p:nvPr/>
        </p:nvSpPr>
        <p:spPr>
          <a:xfrm>
            <a:off x="502920" y="4837176"/>
            <a:ext cx="2377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Data Service -&gt; Fitbit</a:t>
            </a:r>
          </a:p>
        </p:txBody>
      </p:sp>
      <p:sp>
        <p:nvSpPr>
          <p:cNvPr id="52" name="Box 52"/>
          <p:cNvSpPr/>
          <p:nvPr/>
        </p:nvSpPr>
        <p:spPr>
          <a:xfrm>
            <a:off x="2880360" y="4837176"/>
            <a:ext cx="21945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requests.get</a:t>
            </a:r>
          </a:p>
        </p:txBody>
      </p:sp>
      <p:sp>
        <p:nvSpPr>
          <p:cNvPr id="53" name="Box 53"/>
          <p:cNvSpPr/>
          <p:nvPr/>
        </p:nvSpPr>
        <p:spPr>
          <a:xfrm>
            <a:off x="5074920" y="4837176"/>
            <a:ext cx="224028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Fitbit JSON -&gt; CSV</a:t>
            </a:r>
          </a:p>
        </p:txBody>
      </p:sp>
      <p:sp>
        <p:nvSpPr>
          <p:cNvPr id="54" name="Box 54"/>
          <p:cNvSpPr/>
          <p:nvPr/>
        </p:nvSpPr>
        <p:spPr>
          <a:xfrm>
            <a:off x="7315200" y="4837176"/>
            <a:ext cx="37033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00-CallAPI.py</a:t>
            </a:r>
          </a:p>
        </p:txBody>
      </p:sp>
      <p:sp>
        <p:nvSpPr>
          <p:cNvPr id="55" name="Box 55"/>
          <p:cNvSpPr/>
          <p:nvPr/>
        </p:nvSpPr>
        <p:spPr>
          <a:xfrm>
            <a:off x="502920" y="5221224"/>
            <a:ext cx="237744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Services -&gt; PostgreSQL</a:t>
            </a:r>
          </a:p>
        </p:txBody>
      </p:sp>
      <p:sp>
        <p:nvSpPr>
          <p:cNvPr id="56" name="Box 56"/>
          <p:cNvSpPr/>
          <p:nvPr/>
        </p:nvSpPr>
        <p:spPr>
          <a:xfrm>
            <a:off x="2880360" y="5221224"/>
            <a:ext cx="219456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psycopg2 / SQLAlchemy</a:t>
            </a:r>
          </a:p>
        </p:txBody>
      </p:sp>
      <p:sp>
        <p:nvSpPr>
          <p:cNvPr id="57" name="Box 57"/>
          <p:cNvSpPr/>
          <p:nvPr/>
        </p:nvSpPr>
        <p:spPr>
          <a:xfrm>
            <a:off x="5074920" y="5221224"/>
            <a:ext cx="224028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SQL rows / tables</a:t>
            </a:r>
          </a:p>
        </p:txBody>
      </p:sp>
      <p:sp>
        <p:nvSpPr>
          <p:cNvPr id="58" name="Box 58"/>
          <p:cNvSpPr/>
          <p:nvPr/>
        </p:nvSpPr>
        <p:spPr>
          <a:xfrm>
            <a:off x="7315200" y="5221224"/>
            <a:ext cx="3703320" cy="384048"/>
          </a:xfrm>
          <a:prstGeom prst="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DATABASE_URL, read_sql, to_sql</a:t>
            </a:r>
          </a:p>
        </p:txBody>
      </p:sp>
      <p:sp>
        <p:nvSpPr>
          <p:cNvPr id="59" name="Box 59"/>
          <p:cNvSpPr/>
          <p:nvPr/>
        </p:nvSpPr>
        <p:spPr>
          <a:xfrm>
            <a:off x="502920" y="5605272"/>
            <a:ext cx="237744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AI Service -&gt; vLLM</a:t>
            </a:r>
          </a:p>
        </p:txBody>
      </p:sp>
      <p:sp>
        <p:nvSpPr>
          <p:cNvPr id="60" name="Box 60"/>
          <p:cNvSpPr/>
          <p:nvPr/>
        </p:nvSpPr>
        <p:spPr>
          <a:xfrm>
            <a:off x="2880360" y="5605272"/>
            <a:ext cx="219456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OpenAI client</a:t>
            </a:r>
          </a:p>
        </p:txBody>
      </p:sp>
      <p:sp>
        <p:nvSpPr>
          <p:cNvPr id="61" name="Box 61"/>
          <p:cNvSpPr/>
          <p:nvPr/>
        </p:nvSpPr>
        <p:spPr>
          <a:xfrm>
            <a:off x="5074920" y="5605272"/>
            <a:ext cx="224028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Chat Completion JSON</a:t>
            </a:r>
          </a:p>
        </p:txBody>
      </p:sp>
      <p:sp>
        <p:nvSpPr>
          <p:cNvPr id="62" name="Box 62"/>
          <p:cNvSpPr/>
          <p:nvPr/>
        </p:nvSpPr>
        <p:spPr>
          <a:xfrm>
            <a:off x="7315200" y="5605272"/>
            <a:ext cx="3703320" cy="384048"/>
          </a:xfrm>
          <a:prstGeom prst="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txBody>
          <a:bodyPr wrap="square" anchor="mid" lIns="73152" rIns="73152">
            <a:spAutoFit/>
          </a:bodyPr>
          <a:lstStyle/>
          <a:p>
            <a:pPr algn="l"/>
            <a:r>
              <a:rPr lang="ko-KR" sz="680">
                <a:solidFill>
                  <a:srgbClr val="111827"/>
                </a:solidFill>
                <a:latin typeface="Malgun Gothic"/>
                <a:ea typeface="Malgun Gothic"/>
              </a:rPr>
              <a:t>client.chat.completions.create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685800" y="598932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ko-KR" sz="1050" b="1">
                <a:solidFill>
                  <a:srgbClr val="334155"/>
                </a:solidFill>
                <a:latin typeface="Malgun Gothic"/>
                <a:ea typeface="Malgun Gothic"/>
              </a:rPr>
              <a:t>요약: 사용자-facing 통신은 HTTP, 서비스 간 호출은 HTTP JSON, DB 접근은 PostgreSQL SQL/TCP, LLM 호출은 OpenAI-compatible HTTP JSON으로 구분된다.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800"/>
          </a:xfrm>
        </p:spPr>
        <p:txBody>
          <a:bodyPr anchor="t"/>
          <a:lstStyle/>
          <a:p>
            <a:r>
              <a:rPr lang="ko-KR" sz="2800" b="1"/>
              <a:t>Phase 1~5 보완 요약 — 5단계 commit 흐름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100000"/>
            <a:ext cx="8229600" cy="5486400"/>
          </a:xfrm>
        </p:spPr>
        <p:txBody>
          <a:bodyPr anchor="t" wrap="square"/>
          <a:lstStyle/>
          <a:p>
            <a:pPr lvl="0"/>
            <a:r>
              <a:rPr lang="ko-KR" sz="1400" b="1"/>
              <a:t>안전 원칙: 추가만 + 환경변수 default 0 + 자동 fallback → 운영 동작 무영향</a:t>
            </a:r>
          </a:p>
          <a:p>
            <a:pPr lvl="0"/>
          </a:p>
          <a:p>
            <a:pPr lvl="0"/>
            <a:r>
              <a:rPr lang="ko-KR" sz="1400" b="1"/>
              <a:t>Phase 1 (45bef5b) — 모델 정직성</a:t>
            </a:r>
          </a:p>
          <a:p>
            <a:pPr lvl="1"/>
            <a:r>
              <a:rPr lang="ko-KR" sz="1400"/>
              <a:t>시계열 누수 3종 제거 (rolling shift + LEAK_VARS 제외 + target t+1 forecast)</a:t>
            </a:r>
          </a:p>
          <a:p>
            <a:pPr lvl="1"/>
            <a:r>
              <a:rPr lang="ko-KR" sz="1400"/>
              <a:t>마지막 7일 holdout RMSE/MAE + mean(last 7d) baseline 비교</a:t>
            </a:r>
          </a:p>
          <a:p>
            <a:pPr lvl="0"/>
            <a:r>
              <a:rPr lang="ko-KR" sz="1400" b="1"/>
              <a:t>Phase 2 (0ef8d51) — 데이터 회귀 + 메타 추적 + 평가 루프</a:t>
            </a:r>
          </a:p>
          <a:p>
            <a:pPr lvl="1"/>
            <a:r>
              <a:rPr lang="ko-KR" sz="1400"/>
              <a:t>recommend_workout_window: 효율 상위 30% 일자의 시간대별 활동 top-k</a:t>
            </a:r>
          </a:p>
          <a:p>
            <a:pPr lvl="1"/>
            <a:r>
              <a:rPr lang="ko-KR" sz="1400"/>
              <a:t>predictions에 model_version·prompt_hash·llm_params·recommended_slot_json 추가</a:t>
            </a:r>
          </a:p>
          <a:p>
            <a:pPr lvl="1"/>
            <a:r>
              <a:rPr lang="ko-KR" sz="1400"/>
              <a:t>predictions_feedback 테이블 + POST /predictions/{run_id}/feedback (closed loop)</a:t>
            </a:r>
          </a:p>
          <a:p>
            <a:pPr lvl="0"/>
            <a:r>
              <a:rPr lang="ko-KR" sz="1400" b="1"/>
              <a:t>Phase 3 (25ff257) — 운영형 토대</a:t>
            </a:r>
          </a:p>
          <a:p>
            <a:pPr lvl="1"/>
            <a:r>
              <a:rPr lang="ko-KR" sz="1400"/>
              <a:t>Alembic 도입 (1회성 migrate 컨테이너 + db healthcheck)</a:t>
            </a:r>
          </a:p>
          <a:p>
            <a:pPr lvl="1"/>
            <a:r>
              <a:rPr lang="ko-KR" sz="1400"/>
              <a:t>fitbit_daily_features 정규화 expand + 옵트인 dual-write/dual-read</a:t>
            </a:r>
          </a:p>
          <a:p>
            <a:pPr lvl="1"/>
            <a:r>
              <a:rPr lang="ko-KR" sz="1400"/>
              <a:t>Idempotency-Key 헤더 + model_runs 단계별 상태 머신</a:t>
            </a:r>
          </a:p>
          <a:p>
            <a:pPr lvl="0"/>
            <a:r>
              <a:rPr lang="ko-KR" sz="1400" b="1"/>
              <a:t>Phase 4 (f32975e) — 입력 쪽 HTTP 계약</a:t>
            </a:r>
          </a:p>
          <a:p>
            <a:pPr lvl="1"/>
            <a:r>
              <a:rPr lang="ko-KR" sz="1400"/>
              <a:t>data_service GET /users/{uid}/features (FeatureRow Pydantic 18필드)</a:t>
            </a:r>
          </a:p>
          <a:p>
            <a:pPr lvl="1"/>
            <a:r>
              <a:rPr lang="ko-KR" sz="1400"/>
              <a:t>feedback_api GET /users/{uid}/feedback (FeedbackRow)</a:t>
            </a:r>
          </a:p>
          <a:p>
            <a:pPr lvl="1"/>
            <a:r>
              <a:rPr lang="ko-KR" sz="1400"/>
              <a:t>ai_service 3-tier 분기: USE_DATA_SERVICE_API &gt; USE_NORMALIZED &gt; legacy</a:t>
            </a:r>
          </a:p>
          <a:p>
            <a:pPr lvl="0"/>
            <a:r>
              <a:rPr lang="ko-KR" sz="1400" b="1"/>
              <a:t>Phase 5 (21b6525) — 출력 쪽 + 클라이언트 측 + §6 fix</a:t>
            </a:r>
          </a:p>
          <a:p>
            <a:pPr lvl="1"/>
            <a:r>
              <a:rPr lang="ko-KR" sz="1400"/>
              <a:t>ai_service GET /predictions/{run_id} (PredictionResponse 13필드)</a:t>
            </a:r>
          </a:p>
          <a:p>
            <a:pPr lvl="1"/>
            <a:r>
              <a:rPr lang="ko-KR" sz="1400"/>
              <a:t>group_service GET /recommendations/{uid} + fallback_used 명시 (§6 결함 fix)</a:t>
            </a:r>
          </a:p>
          <a:p>
            <a:pPr lvl="1"/>
            <a:r>
              <a:rPr lang="ko-KR" sz="1400"/>
              <a:t>streamlit USE_PREDICTIONS_API=1 옵트인 시 DB SELECT → API GET 전환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800"/>
          </a:xfrm>
        </p:spPr>
        <p:txBody>
          <a:bodyPr anchor="t"/>
          <a:lstStyle/>
          <a:p>
            <a:r>
              <a:rPr lang="ko-KR" sz="2800" b="1"/>
              <a:t>결합 지점 진화 — DB 스키마 → HTTP 계약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100000"/>
            <a:ext cx="8229600" cy="5486400"/>
          </a:xfrm>
        </p:spPr>
        <p:txBody>
          <a:bodyPr anchor="t" wrap="square"/>
          <a:lstStyle/>
          <a:p>
            <a:pPr lvl="0"/>
            <a:r>
              <a:rPr lang="ko-KR" sz="1400" b="1"/>
              <a:t>[As-Is] 결합 지점이 *공유 DB 스키마*</a:t>
            </a:r>
          </a:p>
          <a:p>
            <a:pPr lvl="1"/>
            <a:r>
              <a:rPr lang="ko-KR" sz="1400"/>
              <a:t>ai_service: read_table(f"{uid}_sleep_summary") ← 문자열 hardcode</a:t>
            </a:r>
          </a:p>
          <a:p>
            <a:pPr lvl="1"/>
            <a:r>
              <a:rPr lang="ko-KR" sz="1400"/>
              <a:t>data_service가 컬럼 rename → ai_service 런타임 첫 호출 KeyError</a:t>
            </a:r>
          </a:p>
          <a:p>
            <a:pPr lvl="1"/>
            <a:r>
              <a:rPr lang="ko-KR" sz="1400"/>
              <a:t>회원 200명 = pg_class에 1,800개 동적 테이블</a:t>
            </a:r>
          </a:p>
          <a:p>
            <a:pPr lvl="1"/>
            <a:r>
              <a:rPr lang="ko-KR" sz="1400"/>
              <a:t>단위 변경 [0,1] → [0,100] = LLM 프롬프트가 "예측 효율 8245%" 조용히 받음</a:t>
            </a:r>
          </a:p>
          <a:p>
            <a:pPr lvl="1"/>
            <a:r>
              <a:rPr lang="ko-KR" sz="1400"/>
              <a:t>→ 모놀리스의 단점 + MSA의 단점 동시</a:t>
            </a:r>
          </a:p>
          <a:p>
            <a:pPr lvl="0"/>
          </a:p>
          <a:p>
            <a:pPr lvl="0"/>
            <a:r>
              <a:rPr lang="ko-KR" sz="1400" b="1"/>
              <a:t>[To-Be] 결합 지점이 *명시적 HTTP 계약 + Pydantic 모델*</a:t>
            </a:r>
          </a:p>
          <a:p>
            <a:pPr lvl="1"/>
            <a:r>
              <a:rPr lang="ko-KR" sz="1400"/>
              <a:t>data_service에 FeatureRow Pydantic 모델 정의 (계약을 코드화)</a:t>
            </a:r>
          </a:p>
          <a:p>
            <a:pPr lvl="1"/>
            <a:r>
              <a:rPr lang="ko-KR" sz="1400"/>
              <a:t>ai_service가 GET /users/{uid}/features 호출 (3-tier 분기)</a:t>
            </a:r>
          </a:p>
          <a:p>
            <a:pPr lvl="1"/>
            <a:r>
              <a:rPr lang="ko-KR" sz="1400"/>
              <a:t>OpenAPI(/docs) 자동 생성 → 외부 클라이언트가 합의 없이 호출 가능</a:t>
            </a:r>
          </a:p>
          <a:p>
            <a:pPr lvl="1"/>
            <a:r>
              <a:rPr lang="ko-KR" sz="1400"/>
              <a:t>Field 제약과 함께 갱신 안 하면 PR 통과 불가 → 컴파일 타임 안전</a:t>
            </a:r>
          </a:p>
          <a:p>
            <a:pPr lvl="0"/>
          </a:p>
          <a:p>
            <a:pPr lvl="0"/>
            <a:r>
              <a:rPr lang="ko-KR" sz="1400" b="1"/>
              <a:t>Phase 4·5 진척: 7개 컨테이너 외부 결합 지점 8개 중 8개 ✅</a:t>
            </a:r>
          </a:p>
          <a:p>
            <a:pPr lvl="1"/>
            <a:r>
              <a:rPr lang="ko-KR" sz="1400"/>
              <a:t>분석 §9.1 To-Be 약 90% 진척</a:t>
            </a:r>
          </a:p>
          <a:p>
            <a:pPr lvl="1"/>
            <a:r>
              <a:rPr lang="ko-KR" sz="1400"/>
              <a:t>남은 10%: legacy DB direct path *폐기* (contract 단계, Phase 6+)</a:t>
            </a:r>
          </a:p>
          <a:p>
            <a:pPr lvl="1"/>
            <a:r>
              <a:rPr lang="ko-KR" sz="1400"/>
              <a:t>남은 10%: shared biofit-contracts 패키지 추출 (현재는 인라인 복제 + @contract 주석)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800"/>
          </a:xfrm>
        </p:spPr>
        <p:txBody>
          <a:bodyPr anchor="t"/>
          <a:lstStyle/>
          <a:p>
            <a:r>
              <a:rPr lang="ko-KR" sz="2800" b="1"/>
              <a:t>데이터 소유권·계약 매트릭스 (분석 §9.1 To-Be)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100000"/>
            <a:ext cx="8229600" cy="5486400"/>
          </a:xfrm>
        </p:spPr>
        <p:txBody>
          <a:bodyPr anchor="t" wrap="square"/>
          <a:lstStyle/>
          <a:p>
            <a:pPr lvl="0"/>
            <a:r>
              <a:rPr lang="ko-KR" sz="1400" b="1"/>
              <a:t>원칙: 자기 소유 테이블에는 직접 access OK, 다른 서비스 소유 테이블에는 API 경유</a:t>
            </a:r>
          </a:p>
          <a:p>
            <a:pPr lvl="0"/>
          </a:p>
          <a:p>
            <a:pPr lvl="0"/>
            <a:r>
              <a:rPr lang="ko-KR" sz="1400" b="1"/>
              <a:t>data_service</a:t>
            </a:r>
          </a:p>
          <a:p>
            <a:pPr lvl="1"/>
            <a:r>
              <a:rPr lang="ko-KR" sz="1400"/>
              <a:t>owns: fitbit_raw, fitbit_daily_features, {uid}_* (legacy)</a:t>
            </a:r>
          </a:p>
          <a:p>
            <a:pPr lvl="1"/>
            <a:r>
              <a:rPr lang="ko-KR" sz="1400"/>
              <a:t>exposes: POST /fetch / GET /users/{uid}/features?window=N (Phase 4)</a:t>
            </a:r>
          </a:p>
          <a:p>
            <a:pPr lvl="0"/>
            <a:r>
              <a:rPr lang="ko-KR" sz="1400" b="1"/>
              <a:t>feedback_api</a:t>
            </a:r>
          </a:p>
          <a:p>
            <a:pPr lvl="1"/>
            <a:r>
              <a:rPr lang="ko-KR" sz="1400"/>
              <a:t>owns: predictions_feedback, sleep_feedback, {uid}_feedback (legacy)</a:t>
            </a:r>
          </a:p>
          <a:p>
            <a:pPr lvl="1"/>
            <a:r>
              <a:rPr lang="ko-KR" sz="1400"/>
              <a:t>exposes: POST /feedback / POST /predictions/{run_id}/feedback (Phase 2) / GET /users/{uid}/feedback (Phase 4)</a:t>
            </a:r>
          </a:p>
          <a:p>
            <a:pPr lvl="0"/>
            <a:r>
              <a:rPr lang="ko-KR" sz="1400" b="1"/>
              <a:t>ai_service</a:t>
            </a:r>
          </a:p>
          <a:p>
            <a:pPr lvl="1"/>
            <a:r>
              <a:rPr lang="ko-KR" sz="1400"/>
              <a:t>owns: predictions, token_usage, model_runs (Phase 3), idempotency_log (Phase 3)</a:t>
            </a:r>
          </a:p>
          <a:p>
            <a:pPr lvl="1"/>
            <a:r>
              <a:rPr lang="ko-KR" sz="1400"/>
              <a:t>exposes: POST /predict (Idempotency-Key) / GET /predictions/{run_id} (Phase 5)</a:t>
            </a:r>
          </a:p>
          <a:p>
            <a:pPr lvl="1"/>
            <a:r>
              <a:rPr lang="ko-KR" sz="1400"/>
              <a:t>consumes: data_service /users/{uid}/features + feedback_api /users/{uid}/feedback + vLLM</a:t>
            </a:r>
          </a:p>
          <a:p>
            <a:pPr lvl="0"/>
            <a:r>
              <a:rPr lang="ko-KR" sz="1400" b="1"/>
              <a:t>group_service</a:t>
            </a:r>
          </a:p>
          <a:p>
            <a:pPr lvl="1"/>
            <a:r>
              <a:rPr lang="ko-KR" sz="1400"/>
              <a:t>owns: users, preferred_slots, group_sessions, match_history</a:t>
            </a:r>
          </a:p>
          <a:p>
            <a:pPr lvl="1"/>
            <a:r>
              <a:rPr lang="ko-KR" sz="1400"/>
              <a:t>exposes: POST /predict (legacy) / GET /recommendations/{uid} (Phase 5, §6 fix)</a:t>
            </a:r>
          </a:p>
          <a:p>
            <a:pPr lvl="0"/>
            <a:r>
              <a:rPr lang="ko-KR" sz="1400" b="1"/>
              <a:t>streamlit</a:t>
            </a:r>
          </a:p>
          <a:p>
            <a:pPr lvl="1"/>
            <a:r>
              <a:rPr lang="ko-KR" sz="1400"/>
              <a:t>UI 전용 — 영속 데이터 없음. Phase 5 옵트인 시 ai_service GET endpoint 호출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85800"/>
          </a:xfrm>
        </p:spPr>
        <p:txBody>
          <a:bodyPr anchor="t"/>
          <a:lstStyle/>
          <a:p>
            <a:r>
              <a:rPr lang="ko-KR" sz="2800" b="1"/>
              <a:t>운영형 토대 — Alembic 마이그레이션 + 멱등성 + healthcheck</a:t>
            </a:r>
          </a:p>
        </p:txBody>
      </p:sp>
      <p:sp>
        <p:nvSpPr>
          <p:cNvPr id="3" name="Body"/>
          <p:cNvSpPr>
            <a:spLocks noGrp="1"/>
          </p:cNvSpPr>
          <p:nvPr>
            <p:ph idx="1"/>
          </p:nvPr>
        </p:nvSpPr>
        <p:spPr>
          <a:xfrm>
            <a:off x="457200" y="1100000"/>
            <a:ext cx="8229600" cy="5486400"/>
          </a:xfrm>
        </p:spPr>
        <p:txBody>
          <a:bodyPr anchor="t" wrap="square"/>
          <a:lstStyle/>
          <a:p>
            <a:pPr lvl="0"/>
            <a:r>
              <a:rPr lang="ko-KR" sz="1400" b="1"/>
              <a:t>Alembic — 운영 DB 스키마 진화의 정석</a:t>
            </a:r>
          </a:p>
          <a:p>
            <a:pPr lvl="1"/>
            <a:r>
              <a:rPr lang="ko-KR" sz="1400"/>
              <a:t>이전: db/init/*.sql은 첫 부팅 1회만 실행 → 컬럼 추가 = 데이터 손실</a:t>
            </a:r>
          </a:p>
          <a:p>
            <a:pPr lvl="1"/>
            <a:r>
              <a:rPr lang="ko-KR" sz="1400"/>
              <a:t>도입: alembic.ini + migrations/env.py + 3 versions (001 baseline empty / 002 daily_features / 003 runs)</a:t>
            </a:r>
          </a:p>
          <a:p>
            <a:pPr lvl="1"/>
            <a:r>
              <a:rPr lang="ko-KR" sz="1400"/>
              <a:t>1회성 migrate 컨테이너: db healthcheck 통과 후 alembic upgrade head 실행 후 종료</a:t>
            </a:r>
          </a:p>
          <a:p>
            <a:pPr lvl="1"/>
            <a:r>
              <a:rPr lang="ko-KR" sz="1400"/>
              <a:t>ai_service는 service_completed_successfully 의존성 → 깨진 schema에서 부팅하지 않음</a:t>
            </a:r>
          </a:p>
          <a:p>
            <a:pPr lvl="1"/>
            <a:r>
              <a:rPr lang="ko-KR" sz="1400"/>
              <a:t>expand-contract 패턴으로 NOT NULL 추가나 컬럼 rename도 다운타임 0</a:t>
            </a:r>
          </a:p>
          <a:p>
            <a:pPr lvl="0"/>
          </a:p>
          <a:p>
            <a:pPr lvl="0"/>
            <a:r>
              <a:rPr lang="ko-KR" sz="1400" b="1"/>
              <a:t>멱등성 (Idempotency-Key) — AWS API Gateway / Stripe 패턴</a:t>
            </a:r>
          </a:p>
          <a:p>
            <a:pPr lvl="1"/>
            <a:r>
              <a:rPr lang="ko-KR" sz="1400"/>
              <a:t>POST /predict 헤더에 Idempotency-Key 옵트인</a:t>
            </a:r>
          </a:p>
          <a:p>
            <a:pPr lvl="1"/>
            <a:r>
              <a:rPr lang="ko-KR" sz="1400"/>
              <a:t>같은 키로 재호출 시 idempotency_log hit → vLLM/CatBoost 재실행 0건</a:t>
            </a:r>
          </a:p>
          <a:p>
            <a:pPr lvl="1"/>
            <a:r>
              <a:rPr lang="ko-KR" sz="1400"/>
              <a:t>토큰 누수·DB row 중복 방지 (vLLM timeout 시 정합성 안전)</a:t>
            </a:r>
          </a:p>
          <a:p>
            <a:pPr lvl="0"/>
          </a:p>
          <a:p>
            <a:pPr lvl="0"/>
            <a:r>
              <a:rPr lang="ko-KR" sz="1400" b="1"/>
              <a:t>model_runs 단계별 상태 머신</a:t>
            </a:r>
          </a:p>
          <a:p>
            <a:pPr lvl="1"/>
            <a:r>
              <a:rPr lang="ko-KR" sz="1400"/>
              <a:t>queued → running(catboost_done → vllm_done → predictions_insert) → succeeded/failed</a:t>
            </a:r>
          </a:p>
          <a:p>
            <a:pPr lvl="1"/>
            <a:r>
              <a:rPr lang="ko-KR" sz="1400"/>
              <a:t>current_step 컬럼으로 어디서 자주 깨지는가 SQL 한 줄로 분석 가능</a:t>
            </a:r>
          </a:p>
          <a:p>
            <a:pPr lvl="1"/>
            <a:r>
              <a:rPr lang="ko-KR" sz="1400"/>
              <a:t>Phase 6+ OpenTelemetry trace_id 전파의 토대</a:t>
            </a:r>
          </a:p>
          <a:p>
            <a:pPr lvl="0"/>
          </a:p>
          <a:p>
            <a:pPr lvl="0"/>
            <a:r>
              <a:rPr lang="ko-KR" sz="1400" b="1"/>
              <a:t>healthcheck (Phase 3 도입)</a:t>
            </a:r>
          </a:p>
          <a:p>
            <a:pPr lvl="1"/>
            <a:r>
              <a:rPr lang="ko-KR" sz="1400"/>
              <a:t>db: pg_isready 기반 — 5s interval, 10 retries</a:t>
            </a:r>
          </a:p>
          <a:p>
            <a:pPr lvl="1"/>
            <a:r>
              <a:rPr lang="ko-KR" sz="1400"/>
              <a:t>service_started만으론 postgres ready 보장 안 됨 → 엄격한 ready 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719</Words>
  <Application>Microsoft Office PowerPoint</Application>
  <PresentationFormat>와이드스크린</PresentationFormat>
  <Paragraphs>171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8" baseType="lpstr"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wonjune</dc:creator>
  <cp:lastModifiedBy>원준 신</cp:lastModifiedBy>
  <cp:revision>1</cp:revision>
  <dcterms:modified xsi:type="dcterms:W3CDTF">2026-04-28T04:41:28Z</dcterms:modified>
</cp:coreProperties>
</file>